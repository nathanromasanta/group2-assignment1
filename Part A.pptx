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4"/>
  </p:sldMasterIdLst>
  <p:notesMasterIdLst>
    <p:notesMasterId r:id="rId15"/>
  </p:notesMasterIdLst>
  <p:sldIdLst>
    <p:sldId id="257" r:id="rId5"/>
    <p:sldId id="258" r:id="rId6"/>
    <p:sldId id="259" r:id="rId7"/>
    <p:sldId id="260" r:id="rId8"/>
    <p:sldId id="265" r:id="rId9"/>
    <p:sldId id="266" r:id="rId10"/>
    <p:sldId id="262" r:id="rId11"/>
    <p:sldId id="263" r:id="rId12"/>
    <p:sldId id="264" r:id="rId13"/>
    <p:sldId id="26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2746C2-EC3D-4A0F-913B-D7E54912CB2D}" v="15" dt="2026-02-11T02:42:28.277"/>
    <p1510:client id="{4198122F-265B-4BC5-80F7-84DB047221C0}" v="4" dt="2026-02-11T03:08:38.190"/>
    <p1510:client id="{6CAA51BC-07C3-46C0-9B18-82CC0095F12F}" v="35" dt="2026-02-11T00:29:12.337"/>
    <p1510:client id="{8BFD3276-CAE1-20D3-8628-BA17ADB111CA}" v="18" dt="2026-02-11T00:50:18.715"/>
    <p1510:client id="{AE9F3526-429F-412C-8E5F-FC55A86903A4}" v="12" dt="2026-02-11T03:08:15.1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5" d="100"/>
          <a:sy n="75" d="100"/>
        </p:scale>
        <p:origin x="58" y="3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1CC8FF-80BE-4EE1-8673-5A7BF8A14B75}" type="doc">
      <dgm:prSet loTypeId="urn:microsoft.com/office/officeart/2005/8/layout/vList2" loCatId="list" qsTypeId="urn:microsoft.com/office/officeart/2005/8/quickstyle/simple2" qsCatId="simple" csTypeId="urn:microsoft.com/office/officeart/2005/8/colors/accent0_3" csCatId="mainScheme" phldr="1"/>
      <dgm:spPr/>
      <dgm:t>
        <a:bodyPr/>
        <a:lstStyle/>
        <a:p>
          <a:endParaRPr lang="en-US"/>
        </a:p>
      </dgm:t>
    </dgm:pt>
    <dgm:pt modelId="{7AC5C8B4-06D1-4EED-8B18-C6C5B601D586}">
      <dgm:prSet phldrT="[Text]" phldr="0"/>
      <dgm:spPr/>
      <dgm:t>
        <a:bodyPr/>
        <a:lstStyle/>
        <a:p>
          <a:r>
            <a:rPr lang="en-US" dirty="0"/>
            <a:t>General purpose programming language</a:t>
          </a:r>
        </a:p>
      </dgm:t>
    </dgm:pt>
    <dgm:pt modelId="{B3E38F20-340F-4CFA-8B02-68F7B21C46C7}" type="parTrans" cxnId="{3847F0D9-4688-48D2-9F9F-D0D247922B2B}">
      <dgm:prSet/>
      <dgm:spPr/>
      <dgm:t>
        <a:bodyPr/>
        <a:lstStyle/>
        <a:p>
          <a:endParaRPr lang="en-US"/>
        </a:p>
      </dgm:t>
    </dgm:pt>
    <dgm:pt modelId="{FCF47023-F94F-4F20-A88D-A79D1F2EDF63}" type="sibTrans" cxnId="{3847F0D9-4688-48D2-9F9F-D0D247922B2B}">
      <dgm:prSet/>
      <dgm:spPr/>
      <dgm:t>
        <a:bodyPr/>
        <a:lstStyle/>
        <a:p>
          <a:endParaRPr lang="en-US"/>
        </a:p>
      </dgm:t>
    </dgm:pt>
    <dgm:pt modelId="{C548436F-9C85-4459-A6AC-C61A73F13BCD}">
      <dgm:prSet phldrT="[Text]" phldr="0"/>
      <dgm:spPr/>
      <dgm:t>
        <a:bodyPr/>
        <a:lstStyle/>
        <a:p>
          <a:r>
            <a:rPr lang="en-US" dirty="0"/>
            <a:t>Simplicity and readability</a:t>
          </a:r>
        </a:p>
      </dgm:t>
    </dgm:pt>
    <dgm:pt modelId="{B5B1631C-A81F-480C-AA9C-45205CFC85F0}" type="parTrans" cxnId="{6420C9F5-FAF0-4B67-BFBC-34AB05CA4095}">
      <dgm:prSet/>
      <dgm:spPr/>
      <dgm:t>
        <a:bodyPr/>
        <a:lstStyle/>
        <a:p>
          <a:endParaRPr lang="en-US"/>
        </a:p>
      </dgm:t>
    </dgm:pt>
    <dgm:pt modelId="{D9BB7FAB-B8EA-4469-BE4F-8D06D93DF7C5}" type="sibTrans" cxnId="{6420C9F5-FAF0-4B67-BFBC-34AB05CA4095}">
      <dgm:prSet/>
      <dgm:spPr/>
      <dgm:t>
        <a:bodyPr/>
        <a:lstStyle/>
        <a:p>
          <a:endParaRPr lang="en-US"/>
        </a:p>
      </dgm:t>
    </dgm:pt>
    <dgm:pt modelId="{4E1A665F-B9C1-487E-B627-6DFB0F7EC670}" type="pres">
      <dgm:prSet presAssocID="{FD1CC8FF-80BE-4EE1-8673-5A7BF8A14B75}" presName="linear" presStyleCnt="0">
        <dgm:presLayoutVars>
          <dgm:animLvl val="lvl"/>
          <dgm:resizeHandles val="exact"/>
        </dgm:presLayoutVars>
      </dgm:prSet>
      <dgm:spPr/>
    </dgm:pt>
    <dgm:pt modelId="{F7328839-B676-499C-AC4D-E7EE5613E994}" type="pres">
      <dgm:prSet presAssocID="{7AC5C8B4-06D1-4EED-8B18-C6C5B601D586}" presName="parentText" presStyleLbl="node1" presStyleIdx="0" presStyleCnt="2">
        <dgm:presLayoutVars>
          <dgm:chMax val="0"/>
          <dgm:bulletEnabled val="1"/>
        </dgm:presLayoutVars>
      </dgm:prSet>
      <dgm:spPr/>
    </dgm:pt>
    <dgm:pt modelId="{6DA01892-5F26-41B4-9E23-D92AC3504B5E}" type="pres">
      <dgm:prSet presAssocID="{FCF47023-F94F-4F20-A88D-A79D1F2EDF63}" presName="spacer" presStyleCnt="0"/>
      <dgm:spPr/>
    </dgm:pt>
    <dgm:pt modelId="{83112D64-989B-4420-B4BE-5CAE78DAD360}" type="pres">
      <dgm:prSet presAssocID="{C548436F-9C85-4459-A6AC-C61A73F13BCD}" presName="parentText" presStyleLbl="node1" presStyleIdx="1" presStyleCnt="2">
        <dgm:presLayoutVars>
          <dgm:chMax val="0"/>
          <dgm:bulletEnabled val="1"/>
        </dgm:presLayoutVars>
      </dgm:prSet>
      <dgm:spPr/>
    </dgm:pt>
  </dgm:ptLst>
  <dgm:cxnLst>
    <dgm:cxn modelId="{61545885-E686-443A-AEAC-B72D334AF003}" type="presOf" srcId="{7AC5C8B4-06D1-4EED-8B18-C6C5B601D586}" destId="{F7328839-B676-499C-AC4D-E7EE5613E994}" srcOrd="0" destOrd="0" presId="urn:microsoft.com/office/officeart/2005/8/layout/vList2"/>
    <dgm:cxn modelId="{C8C480B5-58B8-4ABA-8EC9-425078172D42}" type="presOf" srcId="{C548436F-9C85-4459-A6AC-C61A73F13BCD}" destId="{83112D64-989B-4420-B4BE-5CAE78DAD360}" srcOrd="0" destOrd="0" presId="urn:microsoft.com/office/officeart/2005/8/layout/vList2"/>
    <dgm:cxn modelId="{5D1AF7B6-F17A-4CB1-8B51-46307E880547}" type="presOf" srcId="{FD1CC8FF-80BE-4EE1-8673-5A7BF8A14B75}" destId="{4E1A665F-B9C1-487E-B627-6DFB0F7EC670}" srcOrd="0" destOrd="0" presId="urn:microsoft.com/office/officeart/2005/8/layout/vList2"/>
    <dgm:cxn modelId="{3847F0D9-4688-48D2-9F9F-D0D247922B2B}" srcId="{FD1CC8FF-80BE-4EE1-8673-5A7BF8A14B75}" destId="{7AC5C8B4-06D1-4EED-8B18-C6C5B601D586}" srcOrd="0" destOrd="0" parTransId="{B3E38F20-340F-4CFA-8B02-68F7B21C46C7}" sibTransId="{FCF47023-F94F-4F20-A88D-A79D1F2EDF63}"/>
    <dgm:cxn modelId="{6420C9F5-FAF0-4B67-BFBC-34AB05CA4095}" srcId="{FD1CC8FF-80BE-4EE1-8673-5A7BF8A14B75}" destId="{C548436F-9C85-4459-A6AC-C61A73F13BCD}" srcOrd="1" destOrd="0" parTransId="{B5B1631C-A81F-480C-AA9C-45205CFC85F0}" sibTransId="{D9BB7FAB-B8EA-4469-BE4F-8D06D93DF7C5}"/>
    <dgm:cxn modelId="{181DE539-15C1-4E20-B42F-FF899C834855}" type="presParOf" srcId="{4E1A665F-B9C1-487E-B627-6DFB0F7EC670}" destId="{F7328839-B676-499C-AC4D-E7EE5613E994}" srcOrd="0" destOrd="0" presId="urn:microsoft.com/office/officeart/2005/8/layout/vList2"/>
    <dgm:cxn modelId="{2A0036BA-8E3C-4307-AC20-8A60A756DE5F}" type="presParOf" srcId="{4E1A665F-B9C1-487E-B627-6DFB0F7EC670}" destId="{6DA01892-5F26-41B4-9E23-D92AC3504B5E}" srcOrd="1" destOrd="0" presId="urn:microsoft.com/office/officeart/2005/8/layout/vList2"/>
    <dgm:cxn modelId="{EBABC6BB-82B8-4202-9FE4-F86F2FC22293}" type="presParOf" srcId="{4E1A665F-B9C1-487E-B627-6DFB0F7EC670}" destId="{83112D64-989B-4420-B4BE-5CAE78DAD360}"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B867EC-9A06-4C39-9FD1-C2F8AFF4CF71}"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5118FA6-17FD-4C33-849B-D00853C3034D}">
      <dgm:prSet phldrT="[Text]" phldr="0"/>
      <dgm:spPr/>
      <dgm:t>
        <a:bodyPr/>
        <a:lstStyle/>
        <a:p>
          <a:r>
            <a:rPr lang="en-US" dirty="0"/>
            <a:t>C (1970s)</a:t>
          </a:r>
        </a:p>
      </dgm:t>
    </dgm:pt>
    <dgm:pt modelId="{47C720BF-88C2-488E-8ADD-97C2FE7CC7A4}" type="parTrans" cxnId="{9F657964-73BA-4A78-836F-AA0B567084F0}">
      <dgm:prSet/>
      <dgm:spPr/>
      <dgm:t>
        <a:bodyPr/>
        <a:lstStyle/>
        <a:p>
          <a:endParaRPr lang="en-US"/>
        </a:p>
      </dgm:t>
    </dgm:pt>
    <dgm:pt modelId="{B6702B0E-945B-4419-9D27-7BBFCBD39AD3}" type="sibTrans" cxnId="{9F657964-73BA-4A78-836F-AA0B567084F0}">
      <dgm:prSet/>
      <dgm:spPr/>
      <dgm:t>
        <a:bodyPr/>
        <a:lstStyle/>
        <a:p>
          <a:endParaRPr lang="en-US"/>
        </a:p>
      </dgm:t>
    </dgm:pt>
    <dgm:pt modelId="{42409E64-95A0-4AA1-B142-BF77EAA1F5F2}">
      <dgm:prSet phldrT="[Text]" phldr="0"/>
      <dgm:spPr/>
      <dgm:t>
        <a:bodyPr/>
        <a:lstStyle/>
        <a:p>
          <a:r>
            <a:rPr lang="en-US" dirty="0"/>
            <a:t>Extremely Powerful and Fast but syntax is highly complex and manual memory management.</a:t>
          </a:r>
        </a:p>
      </dgm:t>
    </dgm:pt>
    <dgm:pt modelId="{A35DF773-41AC-4A5C-B66B-27507E745658}" type="parTrans" cxnId="{C7BC6D78-78F0-4408-9FEC-A9312D14FFED}">
      <dgm:prSet/>
      <dgm:spPr/>
      <dgm:t>
        <a:bodyPr/>
        <a:lstStyle/>
        <a:p>
          <a:endParaRPr lang="en-US"/>
        </a:p>
      </dgm:t>
    </dgm:pt>
    <dgm:pt modelId="{82EE727B-EE12-4A4D-80C7-C3D8F8311AD3}" type="sibTrans" cxnId="{C7BC6D78-78F0-4408-9FEC-A9312D14FFED}">
      <dgm:prSet/>
      <dgm:spPr/>
      <dgm:t>
        <a:bodyPr/>
        <a:lstStyle/>
        <a:p>
          <a:endParaRPr lang="en-US"/>
        </a:p>
      </dgm:t>
    </dgm:pt>
    <dgm:pt modelId="{B47DE32A-5859-4D4D-8426-BCE2CE1E2E4C}">
      <dgm:prSet phldrT="[Text]" phldr="0"/>
      <dgm:spPr/>
      <dgm:t>
        <a:bodyPr/>
        <a:lstStyle/>
        <a:p>
          <a:r>
            <a:rPr lang="en-US" dirty="0"/>
            <a:t>Modula – 3 (1980s)</a:t>
          </a:r>
        </a:p>
      </dgm:t>
    </dgm:pt>
    <dgm:pt modelId="{B5525992-320F-4E26-8566-19DE1B977B27}" type="parTrans" cxnId="{AFC3F29E-C512-4C73-A0E8-3E51D24DD0B4}">
      <dgm:prSet/>
      <dgm:spPr/>
      <dgm:t>
        <a:bodyPr/>
        <a:lstStyle/>
        <a:p>
          <a:endParaRPr lang="en-US"/>
        </a:p>
      </dgm:t>
    </dgm:pt>
    <dgm:pt modelId="{F2A694BA-35A9-4FD7-9D73-A7DFE7B5E770}" type="sibTrans" cxnId="{AFC3F29E-C512-4C73-A0E8-3E51D24DD0B4}">
      <dgm:prSet/>
      <dgm:spPr/>
      <dgm:t>
        <a:bodyPr/>
        <a:lstStyle/>
        <a:p>
          <a:endParaRPr lang="en-US"/>
        </a:p>
      </dgm:t>
    </dgm:pt>
    <dgm:pt modelId="{98B2C4C9-0156-4800-A03E-1A94C5D1A5CC}">
      <dgm:prSet phldrT="[Text]" phldr="0"/>
      <dgm:spPr/>
      <dgm:t>
        <a:bodyPr/>
        <a:lstStyle/>
        <a:p>
          <a:r>
            <a:rPr lang="en-US" dirty="0"/>
            <a:t>Strong module system and exception handling but was “wordy” and rigid that required excessive typing for simple tasks.</a:t>
          </a:r>
        </a:p>
      </dgm:t>
    </dgm:pt>
    <dgm:pt modelId="{CB195521-2329-47D8-891D-C6B4315DEC1D}" type="parTrans" cxnId="{A9EE8D0C-3E9E-4415-9529-EB58BA5AD039}">
      <dgm:prSet/>
      <dgm:spPr/>
      <dgm:t>
        <a:bodyPr/>
        <a:lstStyle/>
        <a:p>
          <a:endParaRPr lang="en-US"/>
        </a:p>
      </dgm:t>
    </dgm:pt>
    <dgm:pt modelId="{8F5CBB82-DE06-4431-BC86-AEF241AF1E88}" type="sibTrans" cxnId="{A9EE8D0C-3E9E-4415-9529-EB58BA5AD039}">
      <dgm:prSet/>
      <dgm:spPr/>
      <dgm:t>
        <a:bodyPr/>
        <a:lstStyle/>
        <a:p>
          <a:endParaRPr lang="en-US"/>
        </a:p>
      </dgm:t>
    </dgm:pt>
    <dgm:pt modelId="{8765B389-212F-4608-8ABA-F92B6DDA5748}">
      <dgm:prSet phldrT="[Text]" phldr="0"/>
      <dgm:spPr/>
      <dgm:t>
        <a:bodyPr/>
        <a:lstStyle/>
        <a:p>
          <a:r>
            <a:rPr lang="en-US" dirty="0"/>
            <a:t>ABC (1980s)</a:t>
          </a:r>
        </a:p>
      </dgm:t>
    </dgm:pt>
    <dgm:pt modelId="{E6C48EA7-48D9-4B1E-AA39-F4317D04D00A}" type="parTrans" cxnId="{4304A4AA-39EF-46D8-A961-112D21908386}">
      <dgm:prSet/>
      <dgm:spPr/>
      <dgm:t>
        <a:bodyPr/>
        <a:lstStyle/>
        <a:p>
          <a:endParaRPr lang="en-US"/>
        </a:p>
      </dgm:t>
    </dgm:pt>
    <dgm:pt modelId="{B95A01D6-507A-426E-AECF-F357A07E46C3}" type="sibTrans" cxnId="{4304A4AA-39EF-46D8-A961-112D21908386}">
      <dgm:prSet/>
      <dgm:spPr/>
      <dgm:t>
        <a:bodyPr/>
        <a:lstStyle/>
        <a:p>
          <a:endParaRPr lang="en-US"/>
        </a:p>
      </dgm:t>
    </dgm:pt>
    <dgm:pt modelId="{8F385E27-6335-46DF-AC6D-6437DC8F0C9C}">
      <dgm:prSet phldrT="[Text]" phldr="0"/>
      <dgm:spPr/>
      <dgm:t>
        <a:bodyPr/>
        <a:lstStyle/>
        <a:p>
          <a:r>
            <a:rPr lang="en-US" dirty="0"/>
            <a:t>Designed for teaching. It focused on readability and clean English-like syntax but it had a closed ecosystem making it impractical for real world use. This was also developed by CWI with Guido being part of the team. This became the inspiration for Python for Guido. [1]</a:t>
          </a:r>
        </a:p>
      </dgm:t>
    </dgm:pt>
    <dgm:pt modelId="{382D4270-B91A-40D1-93EF-23317C7970F1}" type="parTrans" cxnId="{0803D490-11DD-4792-938B-C45EEB2EFF8F}">
      <dgm:prSet/>
      <dgm:spPr/>
      <dgm:t>
        <a:bodyPr/>
        <a:lstStyle/>
        <a:p>
          <a:endParaRPr lang="en-US"/>
        </a:p>
      </dgm:t>
    </dgm:pt>
    <dgm:pt modelId="{1F991CFE-D383-4032-B740-5F97D1BEEFB1}" type="sibTrans" cxnId="{0803D490-11DD-4792-938B-C45EEB2EFF8F}">
      <dgm:prSet/>
      <dgm:spPr/>
      <dgm:t>
        <a:bodyPr/>
        <a:lstStyle/>
        <a:p>
          <a:endParaRPr lang="en-US"/>
        </a:p>
      </dgm:t>
    </dgm:pt>
    <dgm:pt modelId="{DD7F3B1A-7EBC-4371-8D7D-B1B89D855991}" type="pres">
      <dgm:prSet presAssocID="{51B867EC-9A06-4C39-9FD1-C2F8AFF4CF71}" presName="linear" presStyleCnt="0">
        <dgm:presLayoutVars>
          <dgm:animLvl val="lvl"/>
          <dgm:resizeHandles val="exact"/>
        </dgm:presLayoutVars>
      </dgm:prSet>
      <dgm:spPr/>
    </dgm:pt>
    <dgm:pt modelId="{82ABA485-5A47-43CB-B823-B89D845BF59A}" type="pres">
      <dgm:prSet presAssocID="{75118FA6-17FD-4C33-849B-D00853C3034D}" presName="parentText" presStyleLbl="node1" presStyleIdx="0" presStyleCnt="3">
        <dgm:presLayoutVars>
          <dgm:chMax val="0"/>
          <dgm:bulletEnabled val="1"/>
        </dgm:presLayoutVars>
      </dgm:prSet>
      <dgm:spPr/>
    </dgm:pt>
    <dgm:pt modelId="{C30E341B-9B3B-42CE-AE31-8784DD77A359}" type="pres">
      <dgm:prSet presAssocID="{75118FA6-17FD-4C33-849B-D00853C3034D}" presName="childText" presStyleLbl="revTx" presStyleIdx="0" presStyleCnt="3">
        <dgm:presLayoutVars>
          <dgm:bulletEnabled val="1"/>
        </dgm:presLayoutVars>
      </dgm:prSet>
      <dgm:spPr/>
    </dgm:pt>
    <dgm:pt modelId="{F4DF5652-6196-40E2-893A-948746F60CC1}" type="pres">
      <dgm:prSet presAssocID="{B47DE32A-5859-4D4D-8426-BCE2CE1E2E4C}" presName="parentText" presStyleLbl="node1" presStyleIdx="1" presStyleCnt="3">
        <dgm:presLayoutVars>
          <dgm:chMax val="0"/>
          <dgm:bulletEnabled val="1"/>
        </dgm:presLayoutVars>
      </dgm:prSet>
      <dgm:spPr/>
    </dgm:pt>
    <dgm:pt modelId="{1CDCF3FE-2642-4001-8E78-31486A86482F}" type="pres">
      <dgm:prSet presAssocID="{B47DE32A-5859-4D4D-8426-BCE2CE1E2E4C}" presName="childText" presStyleLbl="revTx" presStyleIdx="1" presStyleCnt="3">
        <dgm:presLayoutVars>
          <dgm:bulletEnabled val="1"/>
        </dgm:presLayoutVars>
      </dgm:prSet>
      <dgm:spPr/>
    </dgm:pt>
    <dgm:pt modelId="{AC6F787E-FE11-434E-BE1F-D05E9C503C9C}" type="pres">
      <dgm:prSet presAssocID="{8765B389-212F-4608-8ABA-F92B6DDA5748}" presName="parentText" presStyleLbl="node1" presStyleIdx="2" presStyleCnt="3">
        <dgm:presLayoutVars>
          <dgm:chMax val="0"/>
          <dgm:bulletEnabled val="1"/>
        </dgm:presLayoutVars>
      </dgm:prSet>
      <dgm:spPr/>
    </dgm:pt>
    <dgm:pt modelId="{53BEF574-89AB-494A-8859-4552B324A65F}" type="pres">
      <dgm:prSet presAssocID="{8765B389-212F-4608-8ABA-F92B6DDA5748}" presName="childText" presStyleLbl="revTx" presStyleIdx="2" presStyleCnt="3">
        <dgm:presLayoutVars>
          <dgm:bulletEnabled val="1"/>
        </dgm:presLayoutVars>
      </dgm:prSet>
      <dgm:spPr/>
    </dgm:pt>
  </dgm:ptLst>
  <dgm:cxnLst>
    <dgm:cxn modelId="{D1320802-9BEC-4589-9C3B-72D3C9D047E2}" type="presOf" srcId="{8765B389-212F-4608-8ABA-F92B6DDA5748}" destId="{AC6F787E-FE11-434E-BE1F-D05E9C503C9C}" srcOrd="0" destOrd="0" presId="urn:microsoft.com/office/officeart/2005/8/layout/vList2"/>
    <dgm:cxn modelId="{A9EE8D0C-3E9E-4415-9529-EB58BA5AD039}" srcId="{B47DE32A-5859-4D4D-8426-BCE2CE1E2E4C}" destId="{98B2C4C9-0156-4800-A03E-1A94C5D1A5CC}" srcOrd="0" destOrd="0" parTransId="{CB195521-2329-47D8-891D-C6B4315DEC1D}" sibTransId="{8F5CBB82-DE06-4431-BC86-AEF241AF1E88}"/>
    <dgm:cxn modelId="{69C2EC10-523D-46C5-86FB-C9F705DB2067}" type="presOf" srcId="{98B2C4C9-0156-4800-A03E-1A94C5D1A5CC}" destId="{1CDCF3FE-2642-4001-8E78-31486A86482F}" srcOrd="0" destOrd="0" presId="urn:microsoft.com/office/officeart/2005/8/layout/vList2"/>
    <dgm:cxn modelId="{8688F362-19EC-4278-9BBE-25F7790B2A8F}" type="presOf" srcId="{42409E64-95A0-4AA1-B142-BF77EAA1F5F2}" destId="{C30E341B-9B3B-42CE-AE31-8784DD77A359}" srcOrd="0" destOrd="0" presId="urn:microsoft.com/office/officeart/2005/8/layout/vList2"/>
    <dgm:cxn modelId="{9F657964-73BA-4A78-836F-AA0B567084F0}" srcId="{51B867EC-9A06-4C39-9FD1-C2F8AFF4CF71}" destId="{75118FA6-17FD-4C33-849B-D00853C3034D}" srcOrd="0" destOrd="0" parTransId="{47C720BF-88C2-488E-8ADD-97C2FE7CC7A4}" sibTransId="{B6702B0E-945B-4419-9D27-7BBFCBD39AD3}"/>
    <dgm:cxn modelId="{18335157-0992-4F79-AADF-888714BBD58A}" type="presOf" srcId="{51B867EC-9A06-4C39-9FD1-C2F8AFF4CF71}" destId="{DD7F3B1A-7EBC-4371-8D7D-B1B89D855991}" srcOrd="0" destOrd="0" presId="urn:microsoft.com/office/officeart/2005/8/layout/vList2"/>
    <dgm:cxn modelId="{C7BC6D78-78F0-4408-9FEC-A9312D14FFED}" srcId="{75118FA6-17FD-4C33-849B-D00853C3034D}" destId="{42409E64-95A0-4AA1-B142-BF77EAA1F5F2}" srcOrd="0" destOrd="0" parTransId="{A35DF773-41AC-4A5C-B66B-27507E745658}" sibTransId="{82EE727B-EE12-4A4D-80C7-C3D8F8311AD3}"/>
    <dgm:cxn modelId="{0803D490-11DD-4792-938B-C45EEB2EFF8F}" srcId="{8765B389-212F-4608-8ABA-F92B6DDA5748}" destId="{8F385E27-6335-46DF-AC6D-6437DC8F0C9C}" srcOrd="0" destOrd="0" parTransId="{382D4270-B91A-40D1-93EF-23317C7970F1}" sibTransId="{1F991CFE-D383-4032-B740-5F97D1BEEFB1}"/>
    <dgm:cxn modelId="{AFC3F29E-C512-4C73-A0E8-3E51D24DD0B4}" srcId="{51B867EC-9A06-4C39-9FD1-C2F8AFF4CF71}" destId="{B47DE32A-5859-4D4D-8426-BCE2CE1E2E4C}" srcOrd="1" destOrd="0" parTransId="{B5525992-320F-4E26-8566-19DE1B977B27}" sibTransId="{F2A694BA-35A9-4FD7-9D73-A7DFE7B5E770}"/>
    <dgm:cxn modelId="{4304A4AA-39EF-46D8-A961-112D21908386}" srcId="{51B867EC-9A06-4C39-9FD1-C2F8AFF4CF71}" destId="{8765B389-212F-4608-8ABA-F92B6DDA5748}" srcOrd="2" destOrd="0" parTransId="{E6C48EA7-48D9-4B1E-AA39-F4317D04D00A}" sibTransId="{B95A01D6-507A-426E-AECF-F357A07E46C3}"/>
    <dgm:cxn modelId="{2FE69ABC-A9EC-4EC0-9DF0-7AB33138F7D3}" type="presOf" srcId="{8F385E27-6335-46DF-AC6D-6437DC8F0C9C}" destId="{53BEF574-89AB-494A-8859-4552B324A65F}" srcOrd="0" destOrd="0" presId="urn:microsoft.com/office/officeart/2005/8/layout/vList2"/>
    <dgm:cxn modelId="{E17550CB-9AD4-4480-A570-2C20CE9F476D}" type="presOf" srcId="{75118FA6-17FD-4C33-849B-D00853C3034D}" destId="{82ABA485-5A47-43CB-B823-B89D845BF59A}" srcOrd="0" destOrd="0" presId="urn:microsoft.com/office/officeart/2005/8/layout/vList2"/>
    <dgm:cxn modelId="{6F9721F4-EB6E-460E-A773-FB441D9FA52A}" type="presOf" srcId="{B47DE32A-5859-4D4D-8426-BCE2CE1E2E4C}" destId="{F4DF5652-6196-40E2-893A-948746F60CC1}" srcOrd="0" destOrd="0" presId="urn:microsoft.com/office/officeart/2005/8/layout/vList2"/>
    <dgm:cxn modelId="{1937D15F-BF94-4E1E-A3DE-FCDDFDBBE941}" type="presParOf" srcId="{DD7F3B1A-7EBC-4371-8D7D-B1B89D855991}" destId="{82ABA485-5A47-43CB-B823-B89D845BF59A}" srcOrd="0" destOrd="0" presId="urn:microsoft.com/office/officeart/2005/8/layout/vList2"/>
    <dgm:cxn modelId="{8C3F0FBC-4B83-4DCE-8E8A-412AA6BC6077}" type="presParOf" srcId="{DD7F3B1A-7EBC-4371-8D7D-B1B89D855991}" destId="{C30E341B-9B3B-42CE-AE31-8784DD77A359}" srcOrd="1" destOrd="0" presId="urn:microsoft.com/office/officeart/2005/8/layout/vList2"/>
    <dgm:cxn modelId="{000D4A47-A9A9-428A-9F1B-1F25F69F07B5}" type="presParOf" srcId="{DD7F3B1A-7EBC-4371-8D7D-B1B89D855991}" destId="{F4DF5652-6196-40E2-893A-948746F60CC1}" srcOrd="2" destOrd="0" presId="urn:microsoft.com/office/officeart/2005/8/layout/vList2"/>
    <dgm:cxn modelId="{5C68930A-0FA8-49C7-8BDE-DDC6F0554E8E}" type="presParOf" srcId="{DD7F3B1A-7EBC-4371-8D7D-B1B89D855991}" destId="{1CDCF3FE-2642-4001-8E78-31486A86482F}" srcOrd="3" destOrd="0" presId="urn:microsoft.com/office/officeart/2005/8/layout/vList2"/>
    <dgm:cxn modelId="{8A860B5D-3852-415A-A933-488B1A3B4EB9}" type="presParOf" srcId="{DD7F3B1A-7EBC-4371-8D7D-B1B89D855991}" destId="{AC6F787E-FE11-434E-BE1F-D05E9C503C9C}" srcOrd="4" destOrd="0" presId="urn:microsoft.com/office/officeart/2005/8/layout/vList2"/>
    <dgm:cxn modelId="{A4B775DF-6998-4C1C-BCD1-7C4289D8BA4E}" type="presParOf" srcId="{DD7F3B1A-7EBC-4371-8D7D-B1B89D855991}" destId="{53BEF574-89AB-494A-8859-4552B324A65F}"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5CB88CF-603E-4CFE-88AE-BE6A9D8E6F53}"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88B14CF-A474-47A6-A6BE-4ACF6184DCFA}">
      <dgm:prSet phldrT="[Text]" phldr="0" custT="1"/>
      <dgm:spPr/>
      <dgm:t>
        <a:bodyPr/>
        <a:lstStyle/>
        <a:p>
          <a:pPr>
            <a:lnSpc>
              <a:spcPct val="100000"/>
            </a:lnSpc>
          </a:pPr>
          <a:r>
            <a:rPr lang="en-US" sz="2400" dirty="0"/>
            <a:t>Web Development </a:t>
          </a:r>
          <a:r>
            <a:rPr lang="en-US" sz="1800" dirty="0"/>
            <a:t>– used to build the backend, APIs and server-side applications.</a:t>
          </a:r>
        </a:p>
      </dgm:t>
    </dgm:pt>
    <dgm:pt modelId="{60842F91-75B7-4CA4-B62A-C8AFD1190B25}" type="parTrans" cxnId="{CC9843CF-D110-45A2-A81D-FF9A10199E72}">
      <dgm:prSet/>
      <dgm:spPr/>
      <dgm:t>
        <a:bodyPr/>
        <a:lstStyle/>
        <a:p>
          <a:endParaRPr lang="en-US"/>
        </a:p>
      </dgm:t>
    </dgm:pt>
    <dgm:pt modelId="{EB1EC5E4-6FEB-42D2-AF8B-6A41DA20EFEC}" type="sibTrans" cxnId="{CC9843CF-D110-45A2-A81D-FF9A10199E72}">
      <dgm:prSet/>
      <dgm:spPr/>
      <dgm:t>
        <a:bodyPr/>
        <a:lstStyle/>
        <a:p>
          <a:pPr>
            <a:lnSpc>
              <a:spcPct val="100000"/>
            </a:lnSpc>
          </a:pPr>
          <a:endParaRPr lang="en-US"/>
        </a:p>
      </dgm:t>
    </dgm:pt>
    <dgm:pt modelId="{7BEEC55F-AAAB-4735-B0D8-9B607A45BB23}">
      <dgm:prSet phldrT="[Text]" phldr="0" custT="1"/>
      <dgm:spPr/>
      <dgm:t>
        <a:bodyPr/>
        <a:lstStyle/>
        <a:p>
          <a:pPr>
            <a:lnSpc>
              <a:spcPct val="100000"/>
            </a:lnSpc>
          </a:pPr>
          <a:r>
            <a:rPr lang="en-US" sz="2400" dirty="0"/>
            <a:t>Data Science </a:t>
          </a:r>
          <a:r>
            <a:rPr lang="en-US" sz="1900" dirty="0"/>
            <a:t>– </a:t>
          </a:r>
          <a:r>
            <a:rPr lang="en-US" sz="1800" dirty="0"/>
            <a:t>Primary tool used by data scientists/engineers for processing large datasets, predictive modelling and statistical analysis. </a:t>
          </a:r>
        </a:p>
      </dgm:t>
    </dgm:pt>
    <dgm:pt modelId="{90CFDE79-03AB-4BB8-9BD1-8EFD273543D2}" type="parTrans" cxnId="{BDECD116-C002-4FE8-8386-660A8C4C3A87}">
      <dgm:prSet/>
      <dgm:spPr/>
      <dgm:t>
        <a:bodyPr/>
        <a:lstStyle/>
        <a:p>
          <a:endParaRPr lang="en-US"/>
        </a:p>
      </dgm:t>
    </dgm:pt>
    <dgm:pt modelId="{0D68B401-0C02-49E9-9204-5D80BBEC5A31}" type="sibTrans" cxnId="{BDECD116-C002-4FE8-8386-660A8C4C3A87}">
      <dgm:prSet/>
      <dgm:spPr/>
      <dgm:t>
        <a:bodyPr/>
        <a:lstStyle/>
        <a:p>
          <a:pPr>
            <a:lnSpc>
              <a:spcPct val="100000"/>
            </a:lnSpc>
          </a:pPr>
          <a:endParaRPr lang="en-US"/>
        </a:p>
      </dgm:t>
    </dgm:pt>
    <dgm:pt modelId="{62ED2668-1152-461B-9662-FF7E071F2555}">
      <dgm:prSet phldrT="[Text]" phldr="0" custT="1"/>
      <dgm:spPr/>
      <dgm:t>
        <a:bodyPr/>
        <a:lstStyle/>
        <a:p>
          <a:pPr>
            <a:lnSpc>
              <a:spcPct val="100000"/>
            </a:lnSpc>
          </a:pPr>
          <a:r>
            <a:rPr lang="en-US" sz="2400" dirty="0"/>
            <a:t>Machine Learning- </a:t>
          </a:r>
          <a:r>
            <a:rPr lang="en-US" sz="1800" dirty="0"/>
            <a:t>Used in developing, training and evaluating Large Language Models and neural networks</a:t>
          </a:r>
        </a:p>
        <a:p>
          <a:pPr>
            <a:lnSpc>
              <a:spcPct val="100000"/>
            </a:lnSpc>
          </a:pPr>
          <a:endParaRPr lang="en-US" sz="1800" dirty="0"/>
        </a:p>
      </dgm:t>
    </dgm:pt>
    <dgm:pt modelId="{7931A6C7-0BC4-4101-B345-376032F9D584}" type="parTrans" cxnId="{FAD2E8EB-D6A3-41E8-B619-857A0AB4B80B}">
      <dgm:prSet/>
      <dgm:spPr/>
      <dgm:t>
        <a:bodyPr/>
        <a:lstStyle/>
        <a:p>
          <a:endParaRPr lang="en-US"/>
        </a:p>
      </dgm:t>
    </dgm:pt>
    <dgm:pt modelId="{50779A3C-35E3-45CA-A18F-38AAE5D612C4}" type="sibTrans" cxnId="{FAD2E8EB-D6A3-41E8-B619-857A0AB4B80B}">
      <dgm:prSet/>
      <dgm:spPr/>
      <dgm:t>
        <a:bodyPr/>
        <a:lstStyle/>
        <a:p>
          <a:pPr>
            <a:lnSpc>
              <a:spcPct val="100000"/>
            </a:lnSpc>
          </a:pPr>
          <a:endParaRPr lang="en-US"/>
        </a:p>
      </dgm:t>
    </dgm:pt>
    <dgm:pt modelId="{BF9393D6-9140-4173-86F2-2FC8800812FA}">
      <dgm:prSet phldrT="[Text]" phldr="0" custT="1"/>
      <dgm:spPr/>
      <dgm:t>
        <a:bodyPr/>
        <a:lstStyle/>
        <a:p>
          <a:pPr>
            <a:lnSpc>
              <a:spcPct val="100000"/>
            </a:lnSpc>
          </a:pPr>
          <a:r>
            <a:rPr lang="en-US" sz="2400" dirty="0"/>
            <a:t>Scientific Computing – </a:t>
          </a:r>
          <a:r>
            <a:rPr lang="en-US" sz="1800" dirty="0"/>
            <a:t>Used in computing in engineering and science fields supporting research and simulations.  </a:t>
          </a:r>
        </a:p>
      </dgm:t>
    </dgm:pt>
    <dgm:pt modelId="{A4B67EA2-8F8D-4BA8-886C-3B298C6969BF}" type="parTrans" cxnId="{085A5188-1F55-4F5E-AB81-5B04BC66DF1B}">
      <dgm:prSet/>
      <dgm:spPr/>
      <dgm:t>
        <a:bodyPr/>
        <a:lstStyle/>
        <a:p>
          <a:endParaRPr lang="en-US"/>
        </a:p>
      </dgm:t>
    </dgm:pt>
    <dgm:pt modelId="{046FA939-EE5A-4EA0-BC26-134A733D91A4}" type="sibTrans" cxnId="{085A5188-1F55-4F5E-AB81-5B04BC66DF1B}">
      <dgm:prSet/>
      <dgm:spPr/>
      <dgm:t>
        <a:bodyPr/>
        <a:lstStyle/>
        <a:p>
          <a:endParaRPr lang="en-US"/>
        </a:p>
      </dgm:t>
    </dgm:pt>
    <dgm:pt modelId="{FE05B79B-8B2F-4D5A-8E7B-0B5A7BE7FC8B}" type="pres">
      <dgm:prSet presAssocID="{55CB88CF-603E-4CFE-88AE-BE6A9D8E6F53}" presName="root" presStyleCnt="0">
        <dgm:presLayoutVars>
          <dgm:dir/>
          <dgm:resizeHandles val="exact"/>
        </dgm:presLayoutVars>
      </dgm:prSet>
      <dgm:spPr/>
    </dgm:pt>
    <dgm:pt modelId="{EE3BC622-77BD-4433-AC47-870C95A5E3AC}" type="pres">
      <dgm:prSet presAssocID="{55CB88CF-603E-4CFE-88AE-BE6A9D8E6F53}" presName="container" presStyleCnt="0">
        <dgm:presLayoutVars>
          <dgm:dir/>
          <dgm:resizeHandles val="exact"/>
        </dgm:presLayoutVars>
      </dgm:prSet>
      <dgm:spPr/>
    </dgm:pt>
    <dgm:pt modelId="{C9BFB4D5-96A1-4839-A3BF-CCD82C16DB04}" type="pres">
      <dgm:prSet presAssocID="{388B14CF-A474-47A6-A6BE-4ACF6184DCFA}" presName="compNode" presStyleCnt="0"/>
      <dgm:spPr/>
    </dgm:pt>
    <dgm:pt modelId="{F3FE9F29-9500-4F2B-8B6A-562E5AC1F2D8}" type="pres">
      <dgm:prSet presAssocID="{388B14CF-A474-47A6-A6BE-4ACF6184DCFA}" presName="iconBgRect" presStyleLbl="bgShp" presStyleIdx="0" presStyleCnt="4"/>
      <dgm:spPr/>
    </dgm:pt>
    <dgm:pt modelId="{5CF61437-3A89-4634-BEAD-8E04B88D5B60}" type="pres">
      <dgm:prSet presAssocID="{388B14CF-A474-47A6-A6BE-4ACF6184DCF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B7584626-91C8-4E6B-AE62-C505FE3628F7}" type="pres">
      <dgm:prSet presAssocID="{388B14CF-A474-47A6-A6BE-4ACF6184DCFA}" presName="spaceRect" presStyleCnt="0"/>
      <dgm:spPr/>
    </dgm:pt>
    <dgm:pt modelId="{86629673-08D6-473D-9D6D-D2CB5E73A170}" type="pres">
      <dgm:prSet presAssocID="{388B14CF-A474-47A6-A6BE-4ACF6184DCFA}" presName="textRect" presStyleLbl="revTx" presStyleIdx="0" presStyleCnt="4">
        <dgm:presLayoutVars>
          <dgm:chMax val="1"/>
          <dgm:chPref val="1"/>
        </dgm:presLayoutVars>
      </dgm:prSet>
      <dgm:spPr/>
    </dgm:pt>
    <dgm:pt modelId="{DE1C9350-1717-42EF-BE0F-330560851D10}" type="pres">
      <dgm:prSet presAssocID="{EB1EC5E4-6FEB-42D2-AF8B-6A41DA20EFEC}" presName="sibTrans" presStyleLbl="sibTrans2D1" presStyleIdx="0" presStyleCnt="0"/>
      <dgm:spPr/>
    </dgm:pt>
    <dgm:pt modelId="{FF34CA65-662C-4BEE-9F96-A57A9E12A3F7}" type="pres">
      <dgm:prSet presAssocID="{7BEEC55F-AAAB-4735-B0D8-9B607A45BB23}" presName="compNode" presStyleCnt="0"/>
      <dgm:spPr/>
    </dgm:pt>
    <dgm:pt modelId="{212DDBC8-4482-4EA1-918B-07EC506F92CA}" type="pres">
      <dgm:prSet presAssocID="{7BEEC55F-AAAB-4735-B0D8-9B607A45BB23}" presName="iconBgRect" presStyleLbl="bgShp" presStyleIdx="1" presStyleCnt="4"/>
      <dgm:spPr/>
    </dgm:pt>
    <dgm:pt modelId="{5368AE65-8217-463D-8F6C-2E580512AC08}" type="pres">
      <dgm:prSet presAssocID="{7BEEC55F-AAAB-4735-B0D8-9B607A45BB2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D410A325-46DA-49C0-9490-EF2D5A6E6D43}" type="pres">
      <dgm:prSet presAssocID="{7BEEC55F-AAAB-4735-B0D8-9B607A45BB23}" presName="spaceRect" presStyleCnt="0"/>
      <dgm:spPr/>
    </dgm:pt>
    <dgm:pt modelId="{B52F0578-72B3-4BEC-A5D8-57098D77214B}" type="pres">
      <dgm:prSet presAssocID="{7BEEC55F-AAAB-4735-B0D8-9B607A45BB23}" presName="textRect" presStyleLbl="revTx" presStyleIdx="1" presStyleCnt="4" custLinFactNeighborX="567" custLinFactNeighborY="1558">
        <dgm:presLayoutVars>
          <dgm:chMax val="1"/>
          <dgm:chPref val="1"/>
        </dgm:presLayoutVars>
      </dgm:prSet>
      <dgm:spPr/>
    </dgm:pt>
    <dgm:pt modelId="{0D87E0FC-5F2D-488F-8060-2E2C0F2A931C}" type="pres">
      <dgm:prSet presAssocID="{0D68B401-0C02-49E9-9204-5D80BBEC5A31}" presName="sibTrans" presStyleLbl="sibTrans2D1" presStyleIdx="0" presStyleCnt="0"/>
      <dgm:spPr/>
    </dgm:pt>
    <dgm:pt modelId="{8ABCC50F-DACC-472D-B2E5-361CB8EBACDD}" type="pres">
      <dgm:prSet presAssocID="{62ED2668-1152-461B-9662-FF7E071F2555}" presName="compNode" presStyleCnt="0"/>
      <dgm:spPr/>
    </dgm:pt>
    <dgm:pt modelId="{05EFBB28-3719-4CED-ACC5-C96FCC2E4645}" type="pres">
      <dgm:prSet presAssocID="{62ED2668-1152-461B-9662-FF7E071F2555}" presName="iconBgRect" presStyleLbl="bgShp" presStyleIdx="2" presStyleCnt="4"/>
      <dgm:spPr/>
    </dgm:pt>
    <dgm:pt modelId="{EAC9AAD3-5DA7-43D6-B3A5-0EA3C66F3137}" type="pres">
      <dgm:prSet presAssocID="{62ED2668-1152-461B-9662-FF7E071F255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766202A9-B839-40FE-B95B-CAA4DA29C9B4}" type="pres">
      <dgm:prSet presAssocID="{62ED2668-1152-461B-9662-FF7E071F2555}" presName="spaceRect" presStyleCnt="0"/>
      <dgm:spPr/>
    </dgm:pt>
    <dgm:pt modelId="{1AFA24C1-F78C-485C-B39F-7205D021DEB6}" type="pres">
      <dgm:prSet presAssocID="{62ED2668-1152-461B-9662-FF7E071F2555}" presName="textRect" presStyleLbl="revTx" presStyleIdx="2" presStyleCnt="4">
        <dgm:presLayoutVars>
          <dgm:chMax val="1"/>
          <dgm:chPref val="1"/>
        </dgm:presLayoutVars>
      </dgm:prSet>
      <dgm:spPr/>
    </dgm:pt>
    <dgm:pt modelId="{32AB5BA7-9D06-43C3-B4BA-357F30DAA986}" type="pres">
      <dgm:prSet presAssocID="{50779A3C-35E3-45CA-A18F-38AAE5D612C4}" presName="sibTrans" presStyleLbl="sibTrans2D1" presStyleIdx="0" presStyleCnt="0"/>
      <dgm:spPr/>
    </dgm:pt>
    <dgm:pt modelId="{43E6C7E0-A803-4D9E-9EDE-92CD243C023F}" type="pres">
      <dgm:prSet presAssocID="{BF9393D6-9140-4173-86F2-2FC8800812FA}" presName="compNode" presStyleCnt="0"/>
      <dgm:spPr/>
    </dgm:pt>
    <dgm:pt modelId="{8C4CB2CB-D9AC-45C3-A636-A1607260C13E}" type="pres">
      <dgm:prSet presAssocID="{BF9393D6-9140-4173-86F2-2FC8800812FA}" presName="iconBgRect" presStyleLbl="bgShp" presStyleIdx="3" presStyleCnt="4"/>
      <dgm:spPr/>
    </dgm:pt>
    <dgm:pt modelId="{956C4AC7-5C9E-4B91-9A6C-70A72ADAC768}" type="pres">
      <dgm:prSet presAssocID="{BF9393D6-9140-4173-86F2-2FC8800812F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lask"/>
        </a:ext>
      </dgm:extLst>
    </dgm:pt>
    <dgm:pt modelId="{F79E6DFF-9AEB-490A-9E59-8BEDD29230F6}" type="pres">
      <dgm:prSet presAssocID="{BF9393D6-9140-4173-86F2-2FC8800812FA}" presName="spaceRect" presStyleCnt="0"/>
      <dgm:spPr/>
    </dgm:pt>
    <dgm:pt modelId="{C93B1A4F-F860-48B2-8DD0-0E5F08EC32C3}" type="pres">
      <dgm:prSet presAssocID="{BF9393D6-9140-4173-86F2-2FC8800812FA}" presName="textRect" presStyleLbl="revTx" presStyleIdx="3" presStyleCnt="4">
        <dgm:presLayoutVars>
          <dgm:chMax val="1"/>
          <dgm:chPref val="1"/>
        </dgm:presLayoutVars>
      </dgm:prSet>
      <dgm:spPr/>
    </dgm:pt>
  </dgm:ptLst>
  <dgm:cxnLst>
    <dgm:cxn modelId="{B407580A-C467-4C1A-90EC-D3925BFC4BD7}" type="presOf" srcId="{7BEEC55F-AAAB-4735-B0D8-9B607A45BB23}" destId="{B52F0578-72B3-4BEC-A5D8-57098D77214B}" srcOrd="0" destOrd="0" presId="urn:microsoft.com/office/officeart/2018/2/layout/IconCircleList"/>
    <dgm:cxn modelId="{BDECD116-C002-4FE8-8386-660A8C4C3A87}" srcId="{55CB88CF-603E-4CFE-88AE-BE6A9D8E6F53}" destId="{7BEEC55F-AAAB-4735-B0D8-9B607A45BB23}" srcOrd="1" destOrd="0" parTransId="{90CFDE79-03AB-4BB8-9BD1-8EFD273543D2}" sibTransId="{0D68B401-0C02-49E9-9204-5D80BBEC5A31}"/>
    <dgm:cxn modelId="{2F61B63F-2275-4BBD-A76D-8E32832ABDB8}" type="presOf" srcId="{62ED2668-1152-461B-9662-FF7E071F2555}" destId="{1AFA24C1-F78C-485C-B39F-7205D021DEB6}" srcOrd="0" destOrd="0" presId="urn:microsoft.com/office/officeart/2018/2/layout/IconCircleList"/>
    <dgm:cxn modelId="{91399B5C-A813-49CF-A44D-2CED60CA9318}" type="presOf" srcId="{55CB88CF-603E-4CFE-88AE-BE6A9D8E6F53}" destId="{FE05B79B-8B2F-4D5A-8E7B-0B5A7BE7FC8B}" srcOrd="0" destOrd="0" presId="urn:microsoft.com/office/officeart/2018/2/layout/IconCircleList"/>
    <dgm:cxn modelId="{A5D3F76B-2B98-4915-A757-E118A0FCBAE6}" type="presOf" srcId="{EB1EC5E4-6FEB-42D2-AF8B-6A41DA20EFEC}" destId="{DE1C9350-1717-42EF-BE0F-330560851D10}" srcOrd="0" destOrd="0" presId="urn:microsoft.com/office/officeart/2018/2/layout/IconCircleList"/>
    <dgm:cxn modelId="{151FFB71-628B-4143-9C33-29777B9F8E70}" type="presOf" srcId="{BF9393D6-9140-4173-86F2-2FC8800812FA}" destId="{C93B1A4F-F860-48B2-8DD0-0E5F08EC32C3}" srcOrd="0" destOrd="0" presId="urn:microsoft.com/office/officeart/2018/2/layout/IconCircleList"/>
    <dgm:cxn modelId="{085A5188-1F55-4F5E-AB81-5B04BC66DF1B}" srcId="{55CB88CF-603E-4CFE-88AE-BE6A9D8E6F53}" destId="{BF9393D6-9140-4173-86F2-2FC8800812FA}" srcOrd="3" destOrd="0" parTransId="{A4B67EA2-8F8D-4BA8-886C-3B298C6969BF}" sibTransId="{046FA939-EE5A-4EA0-BC26-134A733D91A4}"/>
    <dgm:cxn modelId="{0DC7B691-82DA-41DB-806C-4C456C228985}" type="presOf" srcId="{50779A3C-35E3-45CA-A18F-38AAE5D612C4}" destId="{32AB5BA7-9D06-43C3-B4BA-357F30DAA986}" srcOrd="0" destOrd="0" presId="urn:microsoft.com/office/officeart/2018/2/layout/IconCircleList"/>
    <dgm:cxn modelId="{FB9081C4-6EE3-4AEB-A325-479BA88A63AB}" type="presOf" srcId="{0D68B401-0C02-49E9-9204-5D80BBEC5A31}" destId="{0D87E0FC-5F2D-488F-8060-2E2C0F2A931C}" srcOrd="0" destOrd="0" presId="urn:microsoft.com/office/officeart/2018/2/layout/IconCircleList"/>
    <dgm:cxn modelId="{CC9843CF-D110-45A2-A81D-FF9A10199E72}" srcId="{55CB88CF-603E-4CFE-88AE-BE6A9D8E6F53}" destId="{388B14CF-A474-47A6-A6BE-4ACF6184DCFA}" srcOrd="0" destOrd="0" parTransId="{60842F91-75B7-4CA4-B62A-C8AFD1190B25}" sibTransId="{EB1EC5E4-6FEB-42D2-AF8B-6A41DA20EFEC}"/>
    <dgm:cxn modelId="{014E3DDA-20E6-4037-9F3F-5625A62697A1}" type="presOf" srcId="{388B14CF-A474-47A6-A6BE-4ACF6184DCFA}" destId="{86629673-08D6-473D-9D6D-D2CB5E73A170}" srcOrd="0" destOrd="0" presId="urn:microsoft.com/office/officeart/2018/2/layout/IconCircleList"/>
    <dgm:cxn modelId="{FAD2E8EB-D6A3-41E8-B619-857A0AB4B80B}" srcId="{55CB88CF-603E-4CFE-88AE-BE6A9D8E6F53}" destId="{62ED2668-1152-461B-9662-FF7E071F2555}" srcOrd="2" destOrd="0" parTransId="{7931A6C7-0BC4-4101-B345-376032F9D584}" sibTransId="{50779A3C-35E3-45CA-A18F-38AAE5D612C4}"/>
    <dgm:cxn modelId="{20C3358F-729C-4126-99FA-48736A1588AB}" type="presParOf" srcId="{FE05B79B-8B2F-4D5A-8E7B-0B5A7BE7FC8B}" destId="{EE3BC622-77BD-4433-AC47-870C95A5E3AC}" srcOrd="0" destOrd="0" presId="urn:microsoft.com/office/officeart/2018/2/layout/IconCircleList"/>
    <dgm:cxn modelId="{89B7345A-34FF-46DC-AD95-CC143A3468E2}" type="presParOf" srcId="{EE3BC622-77BD-4433-AC47-870C95A5E3AC}" destId="{C9BFB4D5-96A1-4839-A3BF-CCD82C16DB04}" srcOrd="0" destOrd="0" presId="urn:microsoft.com/office/officeart/2018/2/layout/IconCircleList"/>
    <dgm:cxn modelId="{14CE6038-282B-4251-8597-11140B2FDA96}" type="presParOf" srcId="{C9BFB4D5-96A1-4839-A3BF-CCD82C16DB04}" destId="{F3FE9F29-9500-4F2B-8B6A-562E5AC1F2D8}" srcOrd="0" destOrd="0" presId="urn:microsoft.com/office/officeart/2018/2/layout/IconCircleList"/>
    <dgm:cxn modelId="{2F883D27-CF77-4739-9028-7369793C3878}" type="presParOf" srcId="{C9BFB4D5-96A1-4839-A3BF-CCD82C16DB04}" destId="{5CF61437-3A89-4634-BEAD-8E04B88D5B60}" srcOrd="1" destOrd="0" presId="urn:microsoft.com/office/officeart/2018/2/layout/IconCircleList"/>
    <dgm:cxn modelId="{CAE56F4E-9225-4672-8013-7D7977F2C3E8}" type="presParOf" srcId="{C9BFB4D5-96A1-4839-A3BF-CCD82C16DB04}" destId="{B7584626-91C8-4E6B-AE62-C505FE3628F7}" srcOrd="2" destOrd="0" presId="urn:microsoft.com/office/officeart/2018/2/layout/IconCircleList"/>
    <dgm:cxn modelId="{7D70B508-A589-4320-A4BC-59122CCB29ED}" type="presParOf" srcId="{C9BFB4D5-96A1-4839-A3BF-CCD82C16DB04}" destId="{86629673-08D6-473D-9D6D-D2CB5E73A170}" srcOrd="3" destOrd="0" presId="urn:microsoft.com/office/officeart/2018/2/layout/IconCircleList"/>
    <dgm:cxn modelId="{F9AF6FAC-C5E8-4906-83C3-1C4D4CF7B597}" type="presParOf" srcId="{EE3BC622-77BD-4433-AC47-870C95A5E3AC}" destId="{DE1C9350-1717-42EF-BE0F-330560851D10}" srcOrd="1" destOrd="0" presId="urn:microsoft.com/office/officeart/2018/2/layout/IconCircleList"/>
    <dgm:cxn modelId="{A6A51A82-8FD7-41DD-98B8-FDCF2D1B6581}" type="presParOf" srcId="{EE3BC622-77BD-4433-AC47-870C95A5E3AC}" destId="{FF34CA65-662C-4BEE-9F96-A57A9E12A3F7}" srcOrd="2" destOrd="0" presId="urn:microsoft.com/office/officeart/2018/2/layout/IconCircleList"/>
    <dgm:cxn modelId="{743D1347-AA86-49CD-9F89-2359F470687A}" type="presParOf" srcId="{FF34CA65-662C-4BEE-9F96-A57A9E12A3F7}" destId="{212DDBC8-4482-4EA1-918B-07EC506F92CA}" srcOrd="0" destOrd="0" presId="urn:microsoft.com/office/officeart/2018/2/layout/IconCircleList"/>
    <dgm:cxn modelId="{EB3972A7-7837-40AC-83FD-375770D74CCB}" type="presParOf" srcId="{FF34CA65-662C-4BEE-9F96-A57A9E12A3F7}" destId="{5368AE65-8217-463D-8F6C-2E580512AC08}" srcOrd="1" destOrd="0" presId="urn:microsoft.com/office/officeart/2018/2/layout/IconCircleList"/>
    <dgm:cxn modelId="{FE9BEF43-F47B-4F30-9F37-5880B1769EF6}" type="presParOf" srcId="{FF34CA65-662C-4BEE-9F96-A57A9E12A3F7}" destId="{D410A325-46DA-49C0-9490-EF2D5A6E6D43}" srcOrd="2" destOrd="0" presId="urn:microsoft.com/office/officeart/2018/2/layout/IconCircleList"/>
    <dgm:cxn modelId="{4C5C1F6E-64D4-4E4D-A515-B3E86695EBDF}" type="presParOf" srcId="{FF34CA65-662C-4BEE-9F96-A57A9E12A3F7}" destId="{B52F0578-72B3-4BEC-A5D8-57098D77214B}" srcOrd="3" destOrd="0" presId="urn:microsoft.com/office/officeart/2018/2/layout/IconCircleList"/>
    <dgm:cxn modelId="{DABB0903-7723-4636-AE73-8EFEECF7BC76}" type="presParOf" srcId="{EE3BC622-77BD-4433-AC47-870C95A5E3AC}" destId="{0D87E0FC-5F2D-488F-8060-2E2C0F2A931C}" srcOrd="3" destOrd="0" presId="urn:microsoft.com/office/officeart/2018/2/layout/IconCircleList"/>
    <dgm:cxn modelId="{4EB3F5F4-BC7F-40F8-94CB-5F075A4740B7}" type="presParOf" srcId="{EE3BC622-77BD-4433-AC47-870C95A5E3AC}" destId="{8ABCC50F-DACC-472D-B2E5-361CB8EBACDD}" srcOrd="4" destOrd="0" presId="urn:microsoft.com/office/officeart/2018/2/layout/IconCircleList"/>
    <dgm:cxn modelId="{DA8F0E2D-7C3A-4D58-AF94-55C609BFEFDC}" type="presParOf" srcId="{8ABCC50F-DACC-472D-B2E5-361CB8EBACDD}" destId="{05EFBB28-3719-4CED-ACC5-C96FCC2E4645}" srcOrd="0" destOrd="0" presId="urn:microsoft.com/office/officeart/2018/2/layout/IconCircleList"/>
    <dgm:cxn modelId="{C13C9C08-9015-452B-97FA-2C97C6CC7D26}" type="presParOf" srcId="{8ABCC50F-DACC-472D-B2E5-361CB8EBACDD}" destId="{EAC9AAD3-5DA7-43D6-B3A5-0EA3C66F3137}" srcOrd="1" destOrd="0" presId="urn:microsoft.com/office/officeart/2018/2/layout/IconCircleList"/>
    <dgm:cxn modelId="{4CB8C057-64B6-4EFE-9A5F-22ACC7545E87}" type="presParOf" srcId="{8ABCC50F-DACC-472D-B2E5-361CB8EBACDD}" destId="{766202A9-B839-40FE-B95B-CAA4DA29C9B4}" srcOrd="2" destOrd="0" presId="urn:microsoft.com/office/officeart/2018/2/layout/IconCircleList"/>
    <dgm:cxn modelId="{A8B14186-E3F3-42EC-AD0C-60ED3E119F63}" type="presParOf" srcId="{8ABCC50F-DACC-472D-B2E5-361CB8EBACDD}" destId="{1AFA24C1-F78C-485C-B39F-7205D021DEB6}" srcOrd="3" destOrd="0" presId="urn:microsoft.com/office/officeart/2018/2/layout/IconCircleList"/>
    <dgm:cxn modelId="{DAD3E97D-8F8F-4355-8322-032D13528278}" type="presParOf" srcId="{EE3BC622-77BD-4433-AC47-870C95A5E3AC}" destId="{32AB5BA7-9D06-43C3-B4BA-357F30DAA986}" srcOrd="5" destOrd="0" presId="urn:microsoft.com/office/officeart/2018/2/layout/IconCircleList"/>
    <dgm:cxn modelId="{2883E253-DF6B-46D3-AC8A-7CDCBAD9C902}" type="presParOf" srcId="{EE3BC622-77BD-4433-AC47-870C95A5E3AC}" destId="{43E6C7E0-A803-4D9E-9EDE-92CD243C023F}" srcOrd="6" destOrd="0" presId="urn:microsoft.com/office/officeart/2018/2/layout/IconCircleList"/>
    <dgm:cxn modelId="{4F1C19BD-2F49-46C1-8408-2186000C21A6}" type="presParOf" srcId="{43E6C7E0-A803-4D9E-9EDE-92CD243C023F}" destId="{8C4CB2CB-D9AC-45C3-A636-A1607260C13E}" srcOrd="0" destOrd="0" presId="urn:microsoft.com/office/officeart/2018/2/layout/IconCircleList"/>
    <dgm:cxn modelId="{F8134552-DE39-4EE8-9EAB-CAB886927B2C}" type="presParOf" srcId="{43E6C7E0-A803-4D9E-9EDE-92CD243C023F}" destId="{956C4AC7-5C9E-4B91-9A6C-70A72ADAC768}" srcOrd="1" destOrd="0" presId="urn:microsoft.com/office/officeart/2018/2/layout/IconCircleList"/>
    <dgm:cxn modelId="{3A9A73B9-E516-4E56-BFCF-842A472805F7}" type="presParOf" srcId="{43E6C7E0-A803-4D9E-9EDE-92CD243C023F}" destId="{F79E6DFF-9AEB-490A-9E59-8BEDD29230F6}" srcOrd="2" destOrd="0" presId="urn:microsoft.com/office/officeart/2018/2/layout/IconCircleList"/>
    <dgm:cxn modelId="{AB1299A9-9A15-442B-9049-5FD532573B0B}" type="presParOf" srcId="{43E6C7E0-A803-4D9E-9EDE-92CD243C023F}" destId="{C93B1A4F-F860-48B2-8DD0-0E5F08EC32C3}"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328839-B676-499C-AC4D-E7EE5613E994}">
      <dsp:nvSpPr>
        <dsp:cNvPr id="0" name=""/>
        <dsp:cNvSpPr/>
      </dsp:nvSpPr>
      <dsp:spPr>
        <a:xfrm>
          <a:off x="0" y="44603"/>
          <a:ext cx="6263640" cy="1790100"/>
        </a:xfrm>
        <a:prstGeom prst="roundRect">
          <a:avLst/>
        </a:prstGeom>
        <a:solidFill>
          <a:schemeClr val="dk2">
            <a:hueOff val="0"/>
            <a:satOff val="0"/>
            <a:lumOff val="0"/>
            <a:alphaOff val="0"/>
          </a:schemeClr>
        </a:solidFill>
        <a:ln w="25400" cap="rnd"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General purpose programming language</a:t>
          </a:r>
        </a:p>
      </dsp:txBody>
      <dsp:txXfrm>
        <a:off x="87385" y="131988"/>
        <a:ext cx="6088870" cy="1615330"/>
      </dsp:txXfrm>
    </dsp:sp>
    <dsp:sp modelId="{83112D64-989B-4420-B4BE-5CAE78DAD360}">
      <dsp:nvSpPr>
        <dsp:cNvPr id="0" name=""/>
        <dsp:cNvSpPr/>
      </dsp:nvSpPr>
      <dsp:spPr>
        <a:xfrm>
          <a:off x="0" y="1932624"/>
          <a:ext cx="6263640" cy="1790100"/>
        </a:xfrm>
        <a:prstGeom prst="roundRect">
          <a:avLst/>
        </a:prstGeom>
        <a:solidFill>
          <a:schemeClr val="dk2">
            <a:hueOff val="0"/>
            <a:satOff val="0"/>
            <a:lumOff val="0"/>
            <a:alphaOff val="0"/>
          </a:schemeClr>
        </a:solidFill>
        <a:ln w="25400" cap="rnd" cmpd="sng" algn="ctr">
          <a:solidFill>
            <a:schemeClr val="lt2">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Simplicity and readability</a:t>
          </a:r>
        </a:p>
      </dsp:txBody>
      <dsp:txXfrm>
        <a:off x="87385" y="2020009"/>
        <a:ext cx="6088870" cy="16153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ABA485-5A47-43CB-B823-B89D845BF59A}">
      <dsp:nvSpPr>
        <dsp:cNvPr id="0" name=""/>
        <dsp:cNvSpPr/>
      </dsp:nvSpPr>
      <dsp:spPr>
        <a:xfrm>
          <a:off x="0" y="26643"/>
          <a:ext cx="11156950" cy="651105"/>
        </a:xfrm>
        <a:prstGeom prst="roundRect">
          <a:avLst/>
        </a:prstGeom>
        <a:solidFill>
          <a:schemeClr val="dk2">
            <a:hueOff val="0"/>
            <a:satOff val="0"/>
            <a:lumOff val="0"/>
            <a:alphaOff val="0"/>
          </a:schemeClr>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C (1970s)</a:t>
          </a:r>
        </a:p>
      </dsp:txBody>
      <dsp:txXfrm>
        <a:off x="31784" y="58427"/>
        <a:ext cx="11093382" cy="587537"/>
      </dsp:txXfrm>
    </dsp:sp>
    <dsp:sp modelId="{C30E341B-9B3B-42CE-AE31-8784DD77A359}">
      <dsp:nvSpPr>
        <dsp:cNvPr id="0" name=""/>
        <dsp:cNvSpPr/>
      </dsp:nvSpPr>
      <dsp:spPr>
        <a:xfrm>
          <a:off x="0" y="677748"/>
          <a:ext cx="11156950" cy="380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4233"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Extremely Powerful and Fast but syntax is highly complex and manual memory management.</a:t>
          </a:r>
        </a:p>
      </dsp:txBody>
      <dsp:txXfrm>
        <a:off x="0" y="677748"/>
        <a:ext cx="11156950" cy="380362"/>
      </dsp:txXfrm>
    </dsp:sp>
    <dsp:sp modelId="{F4DF5652-6196-40E2-893A-948746F60CC1}">
      <dsp:nvSpPr>
        <dsp:cNvPr id="0" name=""/>
        <dsp:cNvSpPr/>
      </dsp:nvSpPr>
      <dsp:spPr>
        <a:xfrm>
          <a:off x="0" y="1058111"/>
          <a:ext cx="11156950" cy="651105"/>
        </a:xfrm>
        <a:prstGeom prst="roundRect">
          <a:avLst/>
        </a:prstGeom>
        <a:solidFill>
          <a:schemeClr val="dk2">
            <a:hueOff val="0"/>
            <a:satOff val="0"/>
            <a:lumOff val="0"/>
            <a:alphaOff val="0"/>
          </a:schemeClr>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Modula – 3 (1980s)</a:t>
          </a:r>
        </a:p>
      </dsp:txBody>
      <dsp:txXfrm>
        <a:off x="31784" y="1089895"/>
        <a:ext cx="11093382" cy="587537"/>
      </dsp:txXfrm>
    </dsp:sp>
    <dsp:sp modelId="{1CDCF3FE-2642-4001-8E78-31486A86482F}">
      <dsp:nvSpPr>
        <dsp:cNvPr id="0" name=""/>
        <dsp:cNvSpPr/>
      </dsp:nvSpPr>
      <dsp:spPr>
        <a:xfrm>
          <a:off x="0" y="1709216"/>
          <a:ext cx="11156950" cy="380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4233"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Strong module system and exception handling but was “wordy” and rigid that required excessive typing for simple tasks.</a:t>
          </a:r>
        </a:p>
      </dsp:txBody>
      <dsp:txXfrm>
        <a:off x="0" y="1709216"/>
        <a:ext cx="11156950" cy="380362"/>
      </dsp:txXfrm>
    </dsp:sp>
    <dsp:sp modelId="{AC6F787E-FE11-434E-BE1F-D05E9C503C9C}">
      <dsp:nvSpPr>
        <dsp:cNvPr id="0" name=""/>
        <dsp:cNvSpPr/>
      </dsp:nvSpPr>
      <dsp:spPr>
        <a:xfrm>
          <a:off x="0" y="2089579"/>
          <a:ext cx="11156950" cy="651105"/>
        </a:xfrm>
        <a:prstGeom prst="roundRect">
          <a:avLst/>
        </a:prstGeom>
        <a:solidFill>
          <a:schemeClr val="dk2">
            <a:hueOff val="0"/>
            <a:satOff val="0"/>
            <a:lumOff val="0"/>
            <a:alphaOff val="0"/>
          </a:schemeClr>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ABC (1980s)</a:t>
          </a:r>
        </a:p>
      </dsp:txBody>
      <dsp:txXfrm>
        <a:off x="31784" y="2121363"/>
        <a:ext cx="11093382" cy="587537"/>
      </dsp:txXfrm>
    </dsp:sp>
    <dsp:sp modelId="{53BEF574-89AB-494A-8859-4552B324A65F}">
      <dsp:nvSpPr>
        <dsp:cNvPr id="0" name=""/>
        <dsp:cNvSpPr/>
      </dsp:nvSpPr>
      <dsp:spPr>
        <a:xfrm>
          <a:off x="0" y="2740684"/>
          <a:ext cx="11156950" cy="999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4233"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Designed for teaching. It focused on readability and clean English-like syntax but it had a closed ecosystem making it impractical for real world use. This was also developed by CWI with Guido being part of the team. This became the inspiration for Python for Guido. [1]</a:t>
          </a:r>
        </a:p>
      </dsp:txBody>
      <dsp:txXfrm>
        <a:off x="0" y="2740684"/>
        <a:ext cx="11156950" cy="9998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FE9F29-9500-4F2B-8B6A-562E5AC1F2D8}">
      <dsp:nvSpPr>
        <dsp:cNvPr id="0" name=""/>
        <dsp:cNvSpPr/>
      </dsp:nvSpPr>
      <dsp:spPr>
        <a:xfrm>
          <a:off x="23743" y="92605"/>
          <a:ext cx="1470756" cy="147075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F61437-3A89-4634-BEAD-8E04B88D5B60}">
      <dsp:nvSpPr>
        <dsp:cNvPr id="0" name=""/>
        <dsp:cNvSpPr/>
      </dsp:nvSpPr>
      <dsp:spPr>
        <a:xfrm>
          <a:off x="332601" y="401464"/>
          <a:ext cx="853038" cy="85303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6629673-08D6-473D-9D6D-D2CB5E73A170}">
      <dsp:nvSpPr>
        <dsp:cNvPr id="0" name=""/>
        <dsp:cNvSpPr/>
      </dsp:nvSpPr>
      <dsp:spPr>
        <a:xfrm>
          <a:off x="1809661" y="92605"/>
          <a:ext cx="3466783" cy="1470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Web Development </a:t>
          </a:r>
          <a:r>
            <a:rPr lang="en-US" sz="1800" kern="1200" dirty="0"/>
            <a:t>– used to build the backend, APIs and server-side applications.</a:t>
          </a:r>
        </a:p>
      </dsp:txBody>
      <dsp:txXfrm>
        <a:off x="1809661" y="92605"/>
        <a:ext cx="3466783" cy="1470756"/>
      </dsp:txXfrm>
    </dsp:sp>
    <dsp:sp modelId="{212DDBC8-4482-4EA1-918B-07EC506F92CA}">
      <dsp:nvSpPr>
        <dsp:cNvPr id="0" name=""/>
        <dsp:cNvSpPr/>
      </dsp:nvSpPr>
      <dsp:spPr>
        <a:xfrm>
          <a:off x="5880505" y="92605"/>
          <a:ext cx="1470756" cy="147075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68AE65-8217-463D-8F6C-2E580512AC08}">
      <dsp:nvSpPr>
        <dsp:cNvPr id="0" name=""/>
        <dsp:cNvSpPr/>
      </dsp:nvSpPr>
      <dsp:spPr>
        <a:xfrm>
          <a:off x="6189364" y="401464"/>
          <a:ext cx="853038" cy="85303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52F0578-72B3-4BEC-A5D8-57098D77214B}">
      <dsp:nvSpPr>
        <dsp:cNvPr id="0" name=""/>
        <dsp:cNvSpPr/>
      </dsp:nvSpPr>
      <dsp:spPr>
        <a:xfrm>
          <a:off x="7686080" y="115520"/>
          <a:ext cx="3466783" cy="1470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Data Science </a:t>
          </a:r>
          <a:r>
            <a:rPr lang="en-US" sz="1900" kern="1200" dirty="0"/>
            <a:t>– </a:t>
          </a:r>
          <a:r>
            <a:rPr lang="en-US" sz="1800" kern="1200" dirty="0"/>
            <a:t>Primary tool used by data scientists/engineers for processing large datasets, predictive modelling and statistical analysis. </a:t>
          </a:r>
        </a:p>
      </dsp:txBody>
      <dsp:txXfrm>
        <a:off x="7686080" y="115520"/>
        <a:ext cx="3466783" cy="1470756"/>
      </dsp:txXfrm>
    </dsp:sp>
    <dsp:sp modelId="{05EFBB28-3719-4CED-ACC5-C96FCC2E4645}">
      <dsp:nvSpPr>
        <dsp:cNvPr id="0" name=""/>
        <dsp:cNvSpPr/>
      </dsp:nvSpPr>
      <dsp:spPr>
        <a:xfrm>
          <a:off x="23743" y="2203775"/>
          <a:ext cx="1470756" cy="147075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C9AAD3-5DA7-43D6-B3A5-0EA3C66F3137}">
      <dsp:nvSpPr>
        <dsp:cNvPr id="0" name=""/>
        <dsp:cNvSpPr/>
      </dsp:nvSpPr>
      <dsp:spPr>
        <a:xfrm>
          <a:off x="332601" y="2512634"/>
          <a:ext cx="853038" cy="85303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AFA24C1-F78C-485C-B39F-7205D021DEB6}">
      <dsp:nvSpPr>
        <dsp:cNvPr id="0" name=""/>
        <dsp:cNvSpPr/>
      </dsp:nvSpPr>
      <dsp:spPr>
        <a:xfrm>
          <a:off x="1809661" y="2203775"/>
          <a:ext cx="3466783" cy="1470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Machine Learning- </a:t>
          </a:r>
          <a:r>
            <a:rPr lang="en-US" sz="1800" kern="1200" dirty="0"/>
            <a:t>Used in developing, training and evaluating Large Language Models and neural networks</a:t>
          </a:r>
        </a:p>
        <a:p>
          <a:pPr marL="0" lvl="0" indent="0" algn="l" defTabSz="1066800">
            <a:lnSpc>
              <a:spcPct val="100000"/>
            </a:lnSpc>
            <a:spcBef>
              <a:spcPct val="0"/>
            </a:spcBef>
            <a:spcAft>
              <a:spcPct val="35000"/>
            </a:spcAft>
            <a:buNone/>
          </a:pPr>
          <a:endParaRPr lang="en-US" sz="1800" kern="1200" dirty="0"/>
        </a:p>
      </dsp:txBody>
      <dsp:txXfrm>
        <a:off x="1809661" y="2203775"/>
        <a:ext cx="3466783" cy="1470756"/>
      </dsp:txXfrm>
    </dsp:sp>
    <dsp:sp modelId="{8C4CB2CB-D9AC-45C3-A636-A1607260C13E}">
      <dsp:nvSpPr>
        <dsp:cNvPr id="0" name=""/>
        <dsp:cNvSpPr/>
      </dsp:nvSpPr>
      <dsp:spPr>
        <a:xfrm>
          <a:off x="5880505" y="2203775"/>
          <a:ext cx="1470756" cy="147075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6C4AC7-5C9E-4B91-9A6C-70A72ADAC768}">
      <dsp:nvSpPr>
        <dsp:cNvPr id="0" name=""/>
        <dsp:cNvSpPr/>
      </dsp:nvSpPr>
      <dsp:spPr>
        <a:xfrm>
          <a:off x="6189364" y="2512634"/>
          <a:ext cx="853038" cy="85303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93B1A4F-F860-48B2-8DD0-0E5F08EC32C3}">
      <dsp:nvSpPr>
        <dsp:cNvPr id="0" name=""/>
        <dsp:cNvSpPr/>
      </dsp:nvSpPr>
      <dsp:spPr>
        <a:xfrm>
          <a:off x="7666423" y="2203775"/>
          <a:ext cx="3466783" cy="1470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Scientific Computing – </a:t>
          </a:r>
          <a:r>
            <a:rPr lang="en-US" sz="1800" kern="1200" dirty="0"/>
            <a:t>Used in computing in engineering and science fields supporting research and simulations.  </a:t>
          </a:r>
        </a:p>
      </dsp:txBody>
      <dsp:txXfrm>
        <a:off x="7666423" y="2203775"/>
        <a:ext cx="3466783" cy="147075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25D480-3FFE-4C8C-A0FA-1C9B369927BE}" type="datetimeFigureOut">
              <a:rPr lang="en-US" smtClean="0"/>
              <a:t>2/10/2026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19CBBD-7FB6-4583-88FF-666738FA800B}" type="slidenum">
              <a:rPr lang="en-US" smtClean="0"/>
              <a:t>‹#›</a:t>
            </a:fld>
            <a:endParaRPr lang="en-US"/>
          </a:p>
        </p:txBody>
      </p:sp>
    </p:spTree>
    <p:extLst>
      <p:ext uri="{BB962C8B-B14F-4D97-AF65-F5344CB8AC3E}">
        <p14:creationId xmlns:p14="http://schemas.microsoft.com/office/powerpoint/2010/main" val="2999643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84196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81816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74460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43642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9343D99-809A-49C0-96E5-4250D0B498EE}" type="datetime1">
              <a:rPr lang="en-US" smtClean="0"/>
              <a:t>2/10/2026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2951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2/10/2026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61880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2/10/2026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11458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092931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2/10/2026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4128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25636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707120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680640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97126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2/10/2026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693862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2/10/2026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48665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48436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03282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2/10/2026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863310234"/>
      </p:ext>
    </p:extLst>
  </p:cSld>
  <p:clrMap bg1="dk1" tx1="lt1" bg2="dk2" tx2="lt2" accent1="accent1" accent2="accent2" accent3="accent3" accent4="accent4" accent5="accent5" accent6="accent6" hlink="hlink" folHlink="folHlink"/>
  <p:sldLayoutIdLst>
    <p:sldLayoutId id="2147483729" r:id="rId1"/>
    <p:sldLayoutId id="2147483730"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8" r:id="rId12"/>
    <p:sldLayoutId id="2147483723" r:id="rId13"/>
    <p:sldLayoutId id="2147483724" r:id="rId14"/>
    <p:sldLayoutId id="2147483725" r:id="rId15"/>
    <p:sldLayoutId id="2147483726" r:id="rId16"/>
    <p:sldLayoutId id="2147483727" r:id="rId17"/>
  </p:sldLayoutIdLst>
  <p:hf sldNum="0" hdr="0" ftr="0" dt="0"/>
  <p:txStyles>
    <p:titleStyle>
      <a:lvl1pPr algn="ctr" defTabSz="457200" rtl="0" eaLnBrk="1" latinLnBrk="0" hangingPunct="1">
        <a:lnSpc>
          <a:spcPct val="90000"/>
        </a:lnSpc>
        <a:spcBef>
          <a:spcPct val="0"/>
        </a:spcBef>
        <a:buNone/>
        <a:defRPr sz="3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lnSpc>
          <a:spcPct val="110000"/>
        </a:lnSpc>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lnSpc>
          <a:spcPct val="110000"/>
        </a:lnSpc>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lnSpc>
          <a:spcPct val="110000"/>
        </a:lnSpc>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lnSpc>
          <a:spcPct val="110000"/>
        </a:lnSpc>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hyperlink" Target="https://commons.wikimedia.org/wiki/File:Python-logo.png" TargetMode="External"/><Relationship Id="rId2" Type="http://schemas.openxmlformats.org/officeDocument/2006/relationships/hyperlink" Target="https://commons.wikimedia.org/wiki/File:Guido_van_Rossum_in_PyConUS24.jpg" TargetMode="External"/><Relationship Id="rId1" Type="http://schemas.openxmlformats.org/officeDocument/2006/relationships/slideLayout" Target="../slideLayouts/slideLayout2.xml"/><Relationship Id="rId5" Type="http://schemas.openxmlformats.org/officeDocument/2006/relationships/hyperlink" Target="https://praxent.com/blog/history-of-programming-languages#:~:text=John%20McCauley%20mentioned%20shortcode%20in,++%2C%20Java%2C%20and%20Pascal" TargetMode="External"/><Relationship Id="rId4" Type="http://schemas.openxmlformats.org/officeDocument/2006/relationships/hyperlink" Target="https://medium.com/@tellmegist/11-programming-languages-influenced-by-python-4cdab987cd4b"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5C7A495-547D-CD12-4758-FFC6189CC272}"/>
              </a:ext>
            </a:extLst>
          </p:cNvPr>
          <p:cNvPicPr>
            <a:picLocks noChangeAspect="1"/>
          </p:cNvPicPr>
          <p:nvPr/>
        </p:nvPicPr>
        <p:blipFill>
          <a:blip r:embed="rId3">
            <a:alphaModFix amt="35000"/>
          </a:blip>
          <a:srcRect t="5858"/>
          <a:stretch>
            <a:fillRect/>
          </a:stretch>
        </p:blipFill>
        <p:spPr>
          <a:xfrm>
            <a:off x="20" y="10"/>
            <a:ext cx="12188932" cy="6857990"/>
          </a:xfrm>
          <a:prstGeom prst="rect">
            <a:avLst/>
          </a:prstGeom>
        </p:spPr>
      </p:pic>
      <p:sp>
        <p:nvSpPr>
          <p:cNvPr id="2" name="Title 1">
            <a:extLst>
              <a:ext uri="{FF2B5EF4-FFF2-40B4-BE49-F238E27FC236}">
                <a16:creationId xmlns:a16="http://schemas.microsoft.com/office/drawing/2014/main" id="{DA223A14-CF21-61D9-2A08-ACCFF447297A}"/>
              </a:ext>
            </a:extLst>
          </p:cNvPr>
          <p:cNvSpPr>
            <a:spLocks noGrp="1"/>
          </p:cNvSpPr>
          <p:nvPr>
            <p:ph type="ctrTitle"/>
          </p:nvPr>
        </p:nvSpPr>
        <p:spPr>
          <a:xfrm>
            <a:off x="1370693" y="1769540"/>
            <a:ext cx="9440034" cy="1828801"/>
          </a:xfrm>
        </p:spPr>
        <p:txBody>
          <a:bodyPr>
            <a:normAutofit/>
          </a:bodyPr>
          <a:lstStyle/>
          <a:p>
            <a:r>
              <a:rPr lang="en-US"/>
              <a:t>Python Programming language</a:t>
            </a:r>
          </a:p>
        </p:txBody>
      </p:sp>
      <p:sp>
        <p:nvSpPr>
          <p:cNvPr id="3" name="Subtitle 2">
            <a:extLst>
              <a:ext uri="{FF2B5EF4-FFF2-40B4-BE49-F238E27FC236}">
                <a16:creationId xmlns:a16="http://schemas.microsoft.com/office/drawing/2014/main" id="{7E2D486C-B315-2272-B6DF-39E2D0969594}"/>
              </a:ext>
            </a:extLst>
          </p:cNvPr>
          <p:cNvSpPr>
            <a:spLocks noGrp="1"/>
          </p:cNvSpPr>
          <p:nvPr>
            <p:ph type="subTitle" idx="1"/>
          </p:nvPr>
        </p:nvSpPr>
        <p:spPr>
          <a:xfrm>
            <a:off x="1370693" y="3773489"/>
            <a:ext cx="9440034" cy="1049867"/>
          </a:xfrm>
        </p:spPr>
        <p:txBody>
          <a:bodyPr>
            <a:normAutofit fontScale="40000" lnSpcReduction="20000"/>
          </a:bodyPr>
          <a:lstStyle/>
          <a:p>
            <a:r>
              <a:rPr lang="en-US" dirty="0"/>
              <a:t>Created by Group 2:</a:t>
            </a:r>
          </a:p>
          <a:p>
            <a:r>
              <a:rPr lang="en-US" dirty="0"/>
              <a:t>Jericko Chavez- 000885783</a:t>
            </a: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cs typeface="Dubai"/>
            </a:endParaRPr>
          </a:p>
          <a:p>
            <a:r>
              <a:rPr lang="en-US" dirty="0">
                <a:ln>
                  <a:solidFill>
                    <a:prstClr val="black">
                      <a:lumMod val="75000"/>
                      <a:lumOff val="25000"/>
                      <a:alpha val="10000"/>
                    </a:prstClr>
                  </a:solidFill>
                </a:ln>
                <a:effectLst>
                  <a:outerShdw blurRad="9525" dist="25400" dir="14640000" algn="tl" rotWithShape="0">
                    <a:prstClr val="black">
                      <a:alpha val="30000"/>
                    </a:prstClr>
                  </a:outerShdw>
                </a:effectLst>
                <a:cs typeface="Dubai"/>
              </a:rPr>
              <a:t>Justin Creig – </a:t>
            </a:r>
            <a:r>
              <a:rPr lang="en-US"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000997879</a:t>
            </a:r>
          </a:p>
          <a:p>
            <a:r>
              <a:rPr lang="en-US"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Nathan Romasanta – 000908010</a:t>
            </a:r>
          </a:p>
          <a:p>
            <a:r>
              <a:rPr lang="en-US"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Melody Shih - 000908455</a:t>
            </a:r>
          </a:p>
        </p:txBody>
      </p:sp>
    </p:spTree>
    <p:extLst>
      <p:ext uri="{BB962C8B-B14F-4D97-AF65-F5344CB8AC3E}">
        <p14:creationId xmlns:p14="http://schemas.microsoft.com/office/powerpoint/2010/main" val="342980336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1F916-C5C8-FAE3-D9C9-CBC8FF12243D}"/>
              </a:ext>
            </a:extLst>
          </p:cNvPr>
          <p:cNvSpPr>
            <a:spLocks noGrp="1"/>
          </p:cNvSpPr>
          <p:nvPr>
            <p:ph type="title"/>
          </p:nvPr>
        </p:nvSpPr>
        <p:spPr>
          <a:xfrm>
            <a:off x="521208" y="978408"/>
            <a:ext cx="6263640" cy="1463040"/>
          </a:xfrm>
        </p:spPr>
        <p:txBody>
          <a:bodyPr>
            <a:normAutofit/>
          </a:bodyPr>
          <a:lstStyle/>
          <a:p>
            <a:r>
              <a:rPr lang="en-US" dirty="0"/>
              <a:t>Introduction</a:t>
            </a:r>
          </a:p>
        </p:txBody>
      </p:sp>
      <p:graphicFrame>
        <p:nvGraphicFramePr>
          <p:cNvPr id="4" name="Content Placeholder 3">
            <a:extLst>
              <a:ext uri="{FF2B5EF4-FFF2-40B4-BE49-F238E27FC236}">
                <a16:creationId xmlns:a16="http://schemas.microsoft.com/office/drawing/2014/main" id="{4134C30D-5C84-E630-D0E7-BC4320DC404B}"/>
              </a:ext>
            </a:extLst>
          </p:cNvPr>
          <p:cNvGraphicFramePr>
            <a:graphicFrameLocks noGrp="1"/>
          </p:cNvGraphicFramePr>
          <p:nvPr>
            <p:ph idx="1"/>
          </p:nvPr>
        </p:nvGraphicFramePr>
        <p:xfrm>
          <a:off x="521208" y="2578608"/>
          <a:ext cx="6263640" cy="37673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05575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47EB3-1B67-923E-D067-6D985FA7B558}"/>
              </a:ext>
            </a:extLst>
          </p:cNvPr>
          <p:cNvSpPr>
            <a:spLocks noGrp="1"/>
          </p:cNvSpPr>
          <p:nvPr>
            <p:ph type="title"/>
          </p:nvPr>
        </p:nvSpPr>
        <p:spPr>
          <a:xfrm>
            <a:off x="6153912" y="978408"/>
            <a:ext cx="5513832" cy="1463040"/>
          </a:xfrm>
        </p:spPr>
        <p:txBody>
          <a:bodyPr>
            <a:normAutofit/>
          </a:bodyPr>
          <a:lstStyle/>
          <a:p>
            <a:r>
              <a:rPr lang="en-US" dirty="0"/>
              <a:t>Guido van Rossum</a:t>
            </a:r>
          </a:p>
        </p:txBody>
      </p:sp>
      <p:pic>
        <p:nvPicPr>
          <p:cNvPr id="1026" name="Picture 2" descr="undefined">
            <a:extLst>
              <a:ext uri="{FF2B5EF4-FFF2-40B4-BE49-F238E27FC236}">
                <a16:creationId xmlns:a16="http://schemas.microsoft.com/office/drawing/2014/main" id="{3DCC8306-3EF1-0CD6-40F8-E54F9DB6DD8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85451" y="510037"/>
            <a:ext cx="4200899" cy="5601199"/>
          </a:xfrm>
          <a:prstGeom prst="rect">
            <a:avLst/>
          </a:prstGeom>
          <a:noFill/>
          <a:extLst>
            <a:ext uri="{909E8E84-426E-40DD-AFC4-6F175D3DCCD1}">
              <a14:hiddenFill xmlns:a14="http://schemas.microsoft.com/office/drawing/2010/main">
                <a:solidFill>
                  <a:srgbClr val="FFFFFF"/>
                </a:solidFill>
              </a14:hiddenFill>
            </a:ext>
          </a:extLst>
        </p:spPr>
      </p:pic>
      <p:sp>
        <p:nvSpPr>
          <p:cNvPr id="1030" name="Content Placeholder 1029">
            <a:extLst>
              <a:ext uri="{FF2B5EF4-FFF2-40B4-BE49-F238E27FC236}">
                <a16:creationId xmlns:a16="http://schemas.microsoft.com/office/drawing/2014/main" id="{2FC32C75-3E33-9D05-7A7C-958C3BD2BE68}"/>
              </a:ext>
            </a:extLst>
          </p:cNvPr>
          <p:cNvSpPr>
            <a:spLocks noGrp="1"/>
          </p:cNvSpPr>
          <p:nvPr>
            <p:ph idx="1"/>
          </p:nvPr>
        </p:nvSpPr>
        <p:spPr>
          <a:xfrm>
            <a:off x="6153912" y="2578608"/>
            <a:ext cx="5513832" cy="3767328"/>
          </a:xfrm>
        </p:spPr>
        <p:txBody>
          <a:bodyPr>
            <a:normAutofit/>
          </a:bodyPr>
          <a:lstStyle/>
          <a:p>
            <a:r>
              <a:rPr lang="en-US" dirty="0"/>
              <a:t>Developed in the late 1980s by Guido van Rossum</a:t>
            </a:r>
          </a:p>
          <a:p>
            <a:r>
              <a:rPr lang="en-US" dirty="0"/>
              <a:t>Developed at Centrum </a:t>
            </a:r>
            <a:r>
              <a:rPr lang="en-US" dirty="0" err="1"/>
              <a:t>Wiskunde</a:t>
            </a:r>
            <a:r>
              <a:rPr lang="en-US" dirty="0"/>
              <a:t> &amp; Informatica (CWI) in the Netherlands</a:t>
            </a:r>
          </a:p>
          <a:p>
            <a:r>
              <a:rPr lang="en-US" dirty="0"/>
              <a:t>First released in 1991.</a:t>
            </a:r>
          </a:p>
          <a:p>
            <a:pPr marL="0" indent="0">
              <a:buNone/>
            </a:pPr>
            <a:r>
              <a:rPr lang="en-US" dirty="0"/>
              <a:t>[1]</a:t>
            </a:r>
          </a:p>
        </p:txBody>
      </p:sp>
      <p:sp>
        <p:nvSpPr>
          <p:cNvPr id="4" name="TextBox 3">
            <a:extLst>
              <a:ext uri="{FF2B5EF4-FFF2-40B4-BE49-F238E27FC236}">
                <a16:creationId xmlns:a16="http://schemas.microsoft.com/office/drawing/2014/main" id="{1FCF59FE-8878-3F26-9719-4431463C5E9C}"/>
              </a:ext>
            </a:extLst>
          </p:cNvPr>
          <p:cNvSpPr txBox="1"/>
          <p:nvPr/>
        </p:nvSpPr>
        <p:spPr>
          <a:xfrm>
            <a:off x="885451" y="6345936"/>
            <a:ext cx="4200899" cy="369332"/>
          </a:xfrm>
          <a:prstGeom prst="rect">
            <a:avLst/>
          </a:prstGeom>
          <a:noFill/>
        </p:spPr>
        <p:txBody>
          <a:bodyPr wrap="square" rtlCol="0">
            <a:spAutoFit/>
          </a:bodyPr>
          <a:lstStyle/>
          <a:p>
            <a:r>
              <a:rPr lang="en-US" dirty="0"/>
              <a:t>Figure 1. Guido Van Rossum</a:t>
            </a:r>
          </a:p>
        </p:txBody>
      </p:sp>
    </p:spTree>
    <p:extLst>
      <p:ext uri="{BB962C8B-B14F-4D97-AF65-F5344CB8AC3E}">
        <p14:creationId xmlns:p14="http://schemas.microsoft.com/office/powerpoint/2010/main" val="3139147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5DE0-D683-23AA-2840-2C3CDE55B973}"/>
              </a:ext>
            </a:extLst>
          </p:cNvPr>
          <p:cNvSpPr>
            <a:spLocks noGrp="1"/>
          </p:cNvSpPr>
          <p:nvPr>
            <p:ph type="title"/>
          </p:nvPr>
        </p:nvSpPr>
        <p:spPr>
          <a:xfrm>
            <a:off x="521208" y="434122"/>
            <a:ext cx="11155680" cy="1463040"/>
          </a:xfrm>
        </p:spPr>
        <p:txBody>
          <a:bodyPr>
            <a:normAutofit/>
          </a:bodyPr>
          <a:lstStyle/>
          <a:p>
            <a:r>
              <a:rPr lang="en-US" dirty="0"/>
              <a:t>The Problem</a:t>
            </a:r>
          </a:p>
        </p:txBody>
      </p:sp>
      <p:sp>
        <p:nvSpPr>
          <p:cNvPr id="15" name="Content Placeholder 2">
            <a:extLst>
              <a:ext uri="{FF2B5EF4-FFF2-40B4-BE49-F238E27FC236}">
                <a16:creationId xmlns:a16="http://schemas.microsoft.com/office/drawing/2014/main" id="{73F538FC-1F98-DB4C-EECB-F511D6282B06}"/>
              </a:ext>
            </a:extLst>
          </p:cNvPr>
          <p:cNvSpPr>
            <a:spLocks noGrp="1"/>
          </p:cNvSpPr>
          <p:nvPr>
            <p:ph idx="1"/>
          </p:nvPr>
        </p:nvSpPr>
        <p:spPr>
          <a:xfrm>
            <a:off x="521208" y="1477941"/>
            <a:ext cx="5574792" cy="3767328"/>
          </a:xfrm>
        </p:spPr>
        <p:txBody>
          <a:bodyPr>
            <a:normAutofit/>
          </a:bodyPr>
          <a:lstStyle/>
          <a:p>
            <a:pPr marL="0" indent="0">
              <a:buNone/>
            </a:pPr>
            <a:r>
              <a:rPr lang="en-US" dirty="0"/>
              <a:t>During the late 1980s, developers only had 2 choices:</a:t>
            </a:r>
          </a:p>
          <a:p>
            <a:r>
              <a:rPr lang="en-US" dirty="0"/>
              <a:t>Powerful programming languages like C/C++. Extremely fast and powerful, but slow to write and hard to read, highly prone to manual errors.</a:t>
            </a:r>
          </a:p>
          <a:p>
            <a:r>
              <a:rPr lang="en-US" dirty="0"/>
              <a:t>Shell scripts like Unix Shell. Great for quick tasks such as file management but too slow and limited for more complex logic or bigger applications.</a:t>
            </a:r>
          </a:p>
          <a:p>
            <a:endParaRPr lang="en-US" dirty="0"/>
          </a:p>
          <a:p>
            <a:endParaRPr lang="en-US" dirty="0"/>
          </a:p>
          <a:p>
            <a:pPr marL="0" indent="0">
              <a:buNone/>
            </a:pPr>
            <a:r>
              <a:rPr lang="en-US" dirty="0"/>
              <a:t>[3]</a:t>
            </a:r>
          </a:p>
          <a:p>
            <a:pPr lvl="2"/>
            <a:endParaRPr lang="en-US" dirty="0"/>
          </a:p>
        </p:txBody>
      </p:sp>
      <p:sp>
        <p:nvSpPr>
          <p:cNvPr id="6" name="TextBox 5">
            <a:extLst>
              <a:ext uri="{FF2B5EF4-FFF2-40B4-BE49-F238E27FC236}">
                <a16:creationId xmlns:a16="http://schemas.microsoft.com/office/drawing/2014/main" id="{5B15B5C6-7342-6372-D603-87FB515570C1}"/>
              </a:ext>
            </a:extLst>
          </p:cNvPr>
          <p:cNvSpPr txBox="1"/>
          <p:nvPr/>
        </p:nvSpPr>
        <p:spPr>
          <a:xfrm>
            <a:off x="6096001" y="2702858"/>
            <a:ext cx="5574792" cy="1477328"/>
          </a:xfrm>
          <a:prstGeom prst="rect">
            <a:avLst/>
          </a:prstGeom>
          <a:noFill/>
        </p:spPr>
        <p:txBody>
          <a:bodyPr wrap="square" rtlCol="0">
            <a:spAutoFit/>
          </a:bodyPr>
          <a:lstStyle/>
          <a:p>
            <a:pPr lvl="1"/>
            <a:r>
              <a:rPr lang="en-US" dirty="0"/>
              <a:t>Which meant developers struggled with:</a:t>
            </a:r>
          </a:p>
          <a:p>
            <a:pPr marL="742950" lvl="1" indent="-285750">
              <a:buFont typeface="Arial" panose="020B0604020202020204" pitchFamily="34" charset="0"/>
              <a:buChar char="•"/>
            </a:pPr>
            <a:r>
              <a:rPr lang="en-US" b="1" dirty="0"/>
              <a:t>Complex Syntax</a:t>
            </a:r>
          </a:p>
          <a:p>
            <a:pPr marL="742950" lvl="1" indent="-285750">
              <a:buFont typeface="Arial" panose="020B0604020202020204" pitchFamily="34" charset="0"/>
              <a:buChar char="•"/>
            </a:pPr>
            <a:r>
              <a:rPr lang="en-US" b="1" dirty="0"/>
              <a:t>Slow development cycle</a:t>
            </a:r>
          </a:p>
          <a:p>
            <a:pPr marL="742950" lvl="1" indent="-285750">
              <a:buFont typeface="Arial" panose="020B0604020202020204" pitchFamily="34" charset="0"/>
              <a:buChar char="•"/>
            </a:pPr>
            <a:r>
              <a:rPr lang="en-US" b="1" dirty="0"/>
              <a:t>Poor readability</a:t>
            </a:r>
          </a:p>
          <a:p>
            <a:pPr marL="742950" lvl="1" indent="-285750">
              <a:buFont typeface="Arial" panose="020B0604020202020204" pitchFamily="34" charset="0"/>
              <a:buChar char="•"/>
            </a:pPr>
            <a:r>
              <a:rPr lang="en-US" b="1" dirty="0"/>
              <a:t>Difficult maintenance</a:t>
            </a:r>
          </a:p>
        </p:txBody>
      </p:sp>
    </p:spTree>
    <p:extLst>
      <p:ext uri="{BB962C8B-B14F-4D97-AF65-F5344CB8AC3E}">
        <p14:creationId xmlns:p14="http://schemas.microsoft.com/office/powerpoint/2010/main" val="4211936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28336-6F3C-5125-36BB-7F89E1C97B53}"/>
              </a:ext>
            </a:extLst>
          </p:cNvPr>
          <p:cNvSpPr>
            <a:spLocks noGrp="1"/>
          </p:cNvSpPr>
          <p:nvPr>
            <p:ph type="title"/>
          </p:nvPr>
        </p:nvSpPr>
        <p:spPr/>
        <p:txBody>
          <a:bodyPr/>
          <a:lstStyle/>
          <a:p>
            <a:r>
              <a:rPr lang="en-US" dirty="0"/>
              <a:t>Languages before Python</a:t>
            </a:r>
          </a:p>
        </p:txBody>
      </p:sp>
      <p:graphicFrame>
        <p:nvGraphicFramePr>
          <p:cNvPr id="4" name="Content Placeholder 3">
            <a:extLst>
              <a:ext uri="{FF2B5EF4-FFF2-40B4-BE49-F238E27FC236}">
                <a16:creationId xmlns:a16="http://schemas.microsoft.com/office/drawing/2014/main" id="{BAF81417-1611-9F43-C920-9FF3CDC47450}"/>
              </a:ext>
            </a:extLst>
          </p:cNvPr>
          <p:cNvGraphicFramePr>
            <a:graphicFrameLocks noGrp="1"/>
          </p:cNvGraphicFramePr>
          <p:nvPr>
            <p:ph idx="1"/>
            <p:extLst>
              <p:ext uri="{D42A27DB-BD31-4B8C-83A1-F6EECF244321}">
                <p14:modId xmlns:p14="http://schemas.microsoft.com/office/powerpoint/2010/main" val="3286270221"/>
              </p:ext>
            </p:extLst>
          </p:nvPr>
        </p:nvGraphicFramePr>
        <p:xfrm>
          <a:off x="514652" y="1713290"/>
          <a:ext cx="1115695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6856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FF37C-0B26-C818-60C9-AAEEE2FB6A09}"/>
              </a:ext>
            </a:extLst>
          </p:cNvPr>
          <p:cNvSpPr>
            <a:spLocks noGrp="1"/>
          </p:cNvSpPr>
          <p:nvPr>
            <p:ph type="title"/>
          </p:nvPr>
        </p:nvSpPr>
        <p:spPr/>
        <p:txBody>
          <a:bodyPr/>
          <a:lstStyle/>
          <a:p>
            <a:r>
              <a:rPr lang="en-US" dirty="0"/>
              <a:t>The Solution</a:t>
            </a:r>
          </a:p>
        </p:txBody>
      </p:sp>
      <p:sp>
        <p:nvSpPr>
          <p:cNvPr id="3" name="Content Placeholder 2">
            <a:extLst>
              <a:ext uri="{FF2B5EF4-FFF2-40B4-BE49-F238E27FC236}">
                <a16:creationId xmlns:a16="http://schemas.microsoft.com/office/drawing/2014/main" id="{259DE177-63A7-2E48-F691-E025A679A1E6}"/>
              </a:ext>
            </a:extLst>
          </p:cNvPr>
          <p:cNvSpPr>
            <a:spLocks noGrp="1"/>
          </p:cNvSpPr>
          <p:nvPr>
            <p:ph idx="1"/>
          </p:nvPr>
        </p:nvSpPr>
        <p:spPr>
          <a:xfrm>
            <a:off x="515113" y="2112264"/>
            <a:ext cx="6928676" cy="3767328"/>
          </a:xfrm>
        </p:spPr>
        <p:txBody>
          <a:bodyPr/>
          <a:lstStyle/>
          <a:p>
            <a:pPr marL="0" indent="0">
              <a:buNone/>
            </a:pPr>
            <a:r>
              <a:rPr lang="en-US" dirty="0"/>
              <a:t>Guido van Rossum started developing Python, December of 1989. Which was then fully released in 1991. Guido created Python by combining the best features of the programming languages at the time, while also fixing the problems that they had. [1]</a:t>
            </a:r>
          </a:p>
          <a:p>
            <a:r>
              <a:rPr lang="en-US" dirty="0"/>
              <a:t>Readable and user-friendly  syntax from ABC.</a:t>
            </a:r>
          </a:p>
          <a:p>
            <a:r>
              <a:rPr lang="en-US" dirty="0"/>
              <a:t>Exception handling from Modula-3</a:t>
            </a:r>
          </a:p>
          <a:p>
            <a:r>
              <a:rPr lang="en-US" dirty="0"/>
              <a:t>Integrated  C- for more complex logic. </a:t>
            </a:r>
          </a:p>
          <a:p>
            <a:r>
              <a:rPr lang="en-US" dirty="0"/>
              <a:t>Automatic garbage collection- automating the manual memory management from older programming languages.</a:t>
            </a:r>
          </a:p>
          <a:p>
            <a:endParaRPr lang="en-US" dirty="0"/>
          </a:p>
          <a:p>
            <a:endParaRPr lang="en-US" dirty="0"/>
          </a:p>
        </p:txBody>
      </p:sp>
      <p:pic>
        <p:nvPicPr>
          <p:cNvPr id="5" name="Picture 4">
            <a:extLst>
              <a:ext uri="{FF2B5EF4-FFF2-40B4-BE49-F238E27FC236}">
                <a16:creationId xmlns:a16="http://schemas.microsoft.com/office/drawing/2014/main" id="{64939572-4B69-614A-26A9-A2C5A91B19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3216" y="1367448"/>
            <a:ext cx="4029768" cy="4415711"/>
          </a:xfrm>
          <a:prstGeom prst="rect">
            <a:avLst/>
          </a:prstGeom>
        </p:spPr>
      </p:pic>
      <p:sp>
        <p:nvSpPr>
          <p:cNvPr id="6" name="TextBox 5">
            <a:extLst>
              <a:ext uri="{FF2B5EF4-FFF2-40B4-BE49-F238E27FC236}">
                <a16:creationId xmlns:a16="http://schemas.microsoft.com/office/drawing/2014/main" id="{D6E0401F-D2FF-4C21-3740-BDDCAB007876}"/>
              </a:ext>
            </a:extLst>
          </p:cNvPr>
          <p:cNvSpPr txBox="1"/>
          <p:nvPr/>
        </p:nvSpPr>
        <p:spPr>
          <a:xfrm>
            <a:off x="7653216" y="5879592"/>
            <a:ext cx="3742113" cy="369332"/>
          </a:xfrm>
          <a:prstGeom prst="rect">
            <a:avLst/>
          </a:prstGeom>
          <a:noFill/>
        </p:spPr>
        <p:txBody>
          <a:bodyPr wrap="square" rtlCol="0">
            <a:spAutoFit/>
          </a:bodyPr>
          <a:lstStyle/>
          <a:p>
            <a:r>
              <a:rPr lang="en-US" dirty="0"/>
              <a:t>Figure 2. Python Logo</a:t>
            </a:r>
          </a:p>
        </p:txBody>
      </p:sp>
    </p:spTree>
    <p:extLst>
      <p:ext uri="{BB962C8B-B14F-4D97-AF65-F5344CB8AC3E}">
        <p14:creationId xmlns:p14="http://schemas.microsoft.com/office/powerpoint/2010/main" val="3209676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C9507-888E-9FFE-F752-4AA9A161C01B}"/>
              </a:ext>
            </a:extLst>
          </p:cNvPr>
          <p:cNvSpPr>
            <a:spLocks noGrp="1"/>
          </p:cNvSpPr>
          <p:nvPr>
            <p:ph type="title"/>
          </p:nvPr>
        </p:nvSpPr>
        <p:spPr/>
        <p:txBody>
          <a:bodyPr/>
          <a:lstStyle/>
          <a:p>
            <a:r>
              <a:rPr lang="en-US" dirty="0"/>
              <a:t>Challenges faced by Python</a:t>
            </a:r>
          </a:p>
        </p:txBody>
      </p:sp>
      <p:sp>
        <p:nvSpPr>
          <p:cNvPr id="3" name="Content Placeholder 2">
            <a:extLst>
              <a:ext uri="{FF2B5EF4-FFF2-40B4-BE49-F238E27FC236}">
                <a16:creationId xmlns:a16="http://schemas.microsoft.com/office/drawing/2014/main" id="{EAC7FA10-B4CC-3E85-6B6F-CAB9C2B108C6}"/>
              </a:ext>
            </a:extLst>
          </p:cNvPr>
          <p:cNvSpPr>
            <a:spLocks noGrp="1"/>
          </p:cNvSpPr>
          <p:nvPr>
            <p:ph idx="1"/>
          </p:nvPr>
        </p:nvSpPr>
        <p:spPr/>
        <p:txBody>
          <a:bodyPr/>
          <a:lstStyle/>
          <a:p>
            <a:r>
              <a:rPr lang="en-US" b="1" dirty="0"/>
              <a:t>Performance</a:t>
            </a:r>
            <a:r>
              <a:rPr lang="en-US" dirty="0"/>
              <a:t> – Python being an interpreted language means it executes code line-by-line which comes at the cost of speed making it slower than compiled languages like C++.</a:t>
            </a:r>
          </a:p>
          <a:p>
            <a:r>
              <a:rPr lang="en-US" b="1" dirty="0"/>
              <a:t>Efficiency/Memory </a:t>
            </a:r>
            <a:r>
              <a:rPr lang="en-US" dirty="0"/>
              <a:t>– Python stores metadata to make variables easy to handle but increases memory consumption. This makes Python less ideal for devices with less memory to work with such as mobile devices.</a:t>
            </a:r>
          </a:p>
          <a:p>
            <a:r>
              <a:rPr lang="en-US" b="1" dirty="0"/>
              <a:t>Python’s GIL- </a:t>
            </a:r>
            <a:r>
              <a:rPr lang="en-US" dirty="0"/>
              <a:t>the Global Interpreter Lock was designed to ensure memory management is simple but this prevents Python from using multiple processor cores simultaneously.</a:t>
            </a:r>
          </a:p>
          <a:p>
            <a:r>
              <a:rPr lang="en-US" b="1" dirty="0"/>
              <a:t>Hidden Runtime Errors- </a:t>
            </a:r>
            <a:r>
              <a:rPr lang="en-US" dirty="0"/>
              <a:t>Python’s dynamic typing allows for faster prototyping and development but also comes with hidden runtime errors that only appears after execution rather than being caught during development.</a:t>
            </a:r>
          </a:p>
        </p:txBody>
      </p:sp>
    </p:spTree>
    <p:extLst>
      <p:ext uri="{BB962C8B-B14F-4D97-AF65-F5344CB8AC3E}">
        <p14:creationId xmlns:p14="http://schemas.microsoft.com/office/powerpoint/2010/main" val="1302812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3D308-F7FC-4984-C857-6FABD8107B6C}"/>
              </a:ext>
            </a:extLst>
          </p:cNvPr>
          <p:cNvSpPr>
            <a:spLocks noGrp="1"/>
          </p:cNvSpPr>
          <p:nvPr>
            <p:ph type="title"/>
          </p:nvPr>
        </p:nvSpPr>
        <p:spPr/>
        <p:txBody>
          <a:bodyPr/>
          <a:lstStyle/>
          <a:p>
            <a:r>
              <a:rPr lang="en-US" dirty="0"/>
              <a:t>Languages Influenced by Python</a:t>
            </a:r>
          </a:p>
        </p:txBody>
      </p:sp>
      <p:sp>
        <p:nvSpPr>
          <p:cNvPr id="3" name="Content Placeholder 2">
            <a:extLst>
              <a:ext uri="{FF2B5EF4-FFF2-40B4-BE49-F238E27FC236}">
                <a16:creationId xmlns:a16="http://schemas.microsoft.com/office/drawing/2014/main" id="{2E0E845E-5087-371F-0333-81C013CCD9C6}"/>
              </a:ext>
            </a:extLst>
          </p:cNvPr>
          <p:cNvSpPr>
            <a:spLocks noGrp="1"/>
          </p:cNvSpPr>
          <p:nvPr>
            <p:ph idx="1"/>
          </p:nvPr>
        </p:nvSpPr>
        <p:spPr/>
        <p:txBody>
          <a:bodyPr/>
          <a:lstStyle/>
          <a:p>
            <a:r>
              <a:rPr lang="en-US" b="1" dirty="0"/>
              <a:t>Go</a:t>
            </a:r>
            <a:r>
              <a:rPr lang="en-US" dirty="0"/>
              <a:t>:  Designed at google for Python’s readability while having the speed of C. </a:t>
            </a:r>
          </a:p>
          <a:p>
            <a:r>
              <a:rPr lang="en-US" b="1" dirty="0"/>
              <a:t>JavaScript: </a:t>
            </a:r>
            <a:r>
              <a:rPr lang="en-US" dirty="0"/>
              <a:t>Adopted Python’s scripting-style flexibility and clean conventions. (JS features like Async/Await and Destructuring )</a:t>
            </a:r>
          </a:p>
          <a:p>
            <a:r>
              <a:rPr lang="en-US" b="1" dirty="0"/>
              <a:t>Ruby: </a:t>
            </a:r>
            <a:r>
              <a:rPr lang="en-US" dirty="0"/>
              <a:t>Human-centric design like Python, with the focus of ease of use for web development.</a:t>
            </a:r>
          </a:p>
          <a:p>
            <a:r>
              <a:rPr lang="en-US" b="1" dirty="0"/>
              <a:t>Swift: </a:t>
            </a:r>
            <a:r>
              <a:rPr lang="en-US" dirty="0"/>
              <a:t>Emphasizes clean and readable syntax using expressive language, features inspired by Python’s human-centric design principles.</a:t>
            </a:r>
          </a:p>
          <a:p>
            <a:r>
              <a:rPr lang="en-US" b="1" dirty="0"/>
              <a:t>Kotlin- </a:t>
            </a:r>
            <a:r>
              <a:rPr lang="en-US" dirty="0"/>
              <a:t>Combined Python’s concise syntax and Java’s type safety.</a:t>
            </a:r>
          </a:p>
          <a:p>
            <a:pPr marL="0" indent="0">
              <a:buNone/>
            </a:pPr>
            <a:r>
              <a:rPr lang="en-US" dirty="0"/>
              <a:t> [2]</a:t>
            </a:r>
          </a:p>
          <a:p>
            <a:endParaRPr lang="en-US" b="1" dirty="0"/>
          </a:p>
        </p:txBody>
      </p:sp>
    </p:spTree>
    <p:extLst>
      <p:ext uri="{BB962C8B-B14F-4D97-AF65-F5344CB8AC3E}">
        <p14:creationId xmlns:p14="http://schemas.microsoft.com/office/powerpoint/2010/main" val="1232130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4FA33-5674-EC5E-42DA-01B39003C86B}"/>
              </a:ext>
            </a:extLst>
          </p:cNvPr>
          <p:cNvSpPr>
            <a:spLocks noGrp="1"/>
          </p:cNvSpPr>
          <p:nvPr>
            <p:ph type="title"/>
          </p:nvPr>
        </p:nvSpPr>
        <p:spPr>
          <a:xfrm>
            <a:off x="521208" y="978408"/>
            <a:ext cx="11155680" cy="1463040"/>
          </a:xfrm>
        </p:spPr>
        <p:txBody>
          <a:bodyPr>
            <a:normAutofit/>
          </a:bodyPr>
          <a:lstStyle/>
          <a:p>
            <a:r>
              <a:rPr lang="en-US" dirty="0"/>
              <a:t>Python today</a:t>
            </a:r>
          </a:p>
        </p:txBody>
      </p:sp>
      <p:graphicFrame>
        <p:nvGraphicFramePr>
          <p:cNvPr id="4" name="Content Placeholder 3">
            <a:extLst>
              <a:ext uri="{FF2B5EF4-FFF2-40B4-BE49-F238E27FC236}">
                <a16:creationId xmlns:a16="http://schemas.microsoft.com/office/drawing/2014/main" id="{70A16F03-D8B7-10F4-E8AE-6AEC50F18758}"/>
              </a:ext>
            </a:extLst>
          </p:cNvPr>
          <p:cNvGraphicFramePr>
            <a:graphicFrameLocks noGrp="1"/>
          </p:cNvGraphicFramePr>
          <p:nvPr>
            <p:ph idx="1"/>
          </p:nvPr>
        </p:nvGraphicFramePr>
        <p:xfrm>
          <a:off x="520700" y="2578100"/>
          <a:ext cx="1115695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50985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1666A-836A-FAD3-4A24-406D22886A05}"/>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8E19D00A-A720-9E7D-8CFD-37A7B6496E05}"/>
              </a:ext>
            </a:extLst>
          </p:cNvPr>
          <p:cNvSpPr>
            <a:spLocks noGrp="1"/>
          </p:cNvSpPr>
          <p:nvPr>
            <p:ph idx="1"/>
          </p:nvPr>
        </p:nvSpPr>
        <p:spPr>
          <a:xfrm>
            <a:off x="919843" y="1568450"/>
            <a:ext cx="10353762" cy="3714749"/>
          </a:xfrm>
        </p:spPr>
        <p:txBody>
          <a:bodyPr>
            <a:normAutofit fontScale="92500" lnSpcReduction="10000"/>
          </a:bodyPr>
          <a:lstStyle/>
          <a:p>
            <a:r>
              <a:rPr lang="en-US" dirty="0"/>
              <a:t>Figure 1- Kushal Das, CC BY-SA 4.0 &lt;https://creativecommons.org/licenses/by-sa/4.0&gt;, via Wikimedia Commons. </a:t>
            </a:r>
            <a:r>
              <a:rPr lang="en-US" dirty="0">
                <a:hlinkClick r:id="rId2"/>
              </a:rPr>
              <a:t>https://commons.wikimedia.org/wiki/File:Guido_van_Rossum_in_PyConUS24.jpg</a:t>
            </a:r>
            <a:br>
              <a:rPr lang="en-US" dirty="0"/>
            </a:br>
            <a:endParaRPr lang="en-US" dirty="0"/>
          </a:p>
          <a:p>
            <a:r>
              <a:rPr lang="en-US" dirty="0"/>
              <a:t>Figure 2- Logo Python, CC BY 2.5 &lt;https://creativecommons.org/licenses/by/2.5&gt;, via Wikimedia Commons. </a:t>
            </a:r>
            <a:r>
              <a:rPr lang="en-US" dirty="0">
                <a:hlinkClick r:id="rId3"/>
              </a:rPr>
              <a:t>https://commons.wikimedia.org/wiki/File:Python-logo.png</a:t>
            </a:r>
            <a:endParaRPr lang="en-US" dirty="0"/>
          </a:p>
          <a:p>
            <a:r>
              <a:rPr lang="en-US" dirty="0"/>
              <a:t>[1]-https://en.wikipedia.org/wiki/Python_(programming_language)#:~:text=Python%20was%20conceived%20in%20the,Council%20to%20lead%20the%20project.</a:t>
            </a:r>
          </a:p>
          <a:p>
            <a:r>
              <a:rPr lang="en-US" dirty="0"/>
              <a:t>[2] - </a:t>
            </a:r>
            <a:r>
              <a:rPr lang="en-US" dirty="0">
                <a:hlinkClick r:id="rId4"/>
              </a:rPr>
              <a:t>https://medium.com/@tellmegist/11-programming-languages-influenced-by-python-4cdab987cd4b</a:t>
            </a:r>
            <a:endParaRPr lang="en-US" dirty="0"/>
          </a:p>
          <a:p>
            <a:r>
              <a:rPr lang="en-US" dirty="0"/>
              <a:t>[3] - </a:t>
            </a:r>
            <a:r>
              <a:rPr lang="en-US" dirty="0">
                <a:hlinkClick r:id="rId5"/>
              </a:rPr>
              <a:t>https://praxent.com/blog/history-of-programming-languages#:~:text=John%20McCauley%20mentioned%20shortcode%20in,++%2C%20Java%2C%20and%20Pascal</a:t>
            </a:r>
            <a:r>
              <a:rPr lang="en-US" dirty="0"/>
              <a:t>.</a:t>
            </a:r>
          </a:p>
          <a:p>
            <a:endParaRPr lang="en-US" dirty="0"/>
          </a:p>
          <a:p>
            <a:pPr lvl="1"/>
            <a:endParaRPr lang="en-US" dirty="0"/>
          </a:p>
          <a:p>
            <a:endParaRPr lang="en-US" dirty="0"/>
          </a:p>
        </p:txBody>
      </p:sp>
    </p:spTree>
    <p:extLst>
      <p:ext uri="{BB962C8B-B14F-4D97-AF65-F5344CB8AC3E}">
        <p14:creationId xmlns:p14="http://schemas.microsoft.com/office/powerpoint/2010/main" val="19295673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Georgia Pro"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Dubai"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0F72F4452F5FB4090AFC64FC9F8B9CA" ma:contentTypeVersion="14" ma:contentTypeDescription="Create a new document." ma:contentTypeScope="" ma:versionID="61fbf156aa2b697a6cb74919e79fa8e8">
  <xsd:schema xmlns:xsd="http://www.w3.org/2001/XMLSchema" xmlns:xs="http://www.w3.org/2001/XMLSchema" xmlns:p="http://schemas.microsoft.com/office/2006/metadata/properties" xmlns:ns3="6723d438-5cfd-419a-b5a5-7f350df90645" xmlns:ns4="be272f79-6e5c-4261-824a-43953da035ef" targetNamespace="http://schemas.microsoft.com/office/2006/metadata/properties" ma:root="true" ma:fieldsID="7f23a951a0c47245f92ee6099bfebb7b" ns3:_="" ns4:_="">
    <xsd:import namespace="6723d438-5cfd-419a-b5a5-7f350df90645"/>
    <xsd:import namespace="be272f79-6e5c-4261-824a-43953da035ef"/>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ystemTags" minOccurs="0"/>
                <xsd:element ref="ns3:MediaServiceOCR" minOccurs="0"/>
                <xsd:element ref="ns3:MediaServiceGenerationTime" minOccurs="0"/>
                <xsd:element ref="ns3:MediaServiceEventHashCode" minOccurs="0"/>
                <xsd:element ref="ns3:MediaServiceSearchProperties"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23d438-5cfd-419a-b5a5-7f350df906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e272f79-6e5c-4261-824a-43953da035e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6723d438-5cfd-419a-b5a5-7f350df9064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0A972E7-E07A-4F99-81E0-95C305BFEB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23d438-5cfd-419a-b5a5-7f350df90645"/>
    <ds:schemaRef ds:uri="be272f79-6e5c-4261-824a-43953da035e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BF84AD4-D371-48ED-9B4F-6560D6A23B07}">
  <ds:schemaRefs>
    <ds:schemaRef ds:uri="http://www.w3.org/XML/1998/namespace"/>
    <ds:schemaRef ds:uri="http://purl.org/dc/elements/1.1/"/>
    <ds:schemaRef ds:uri="http://purl.org/dc/dcmitype/"/>
    <ds:schemaRef ds:uri="http://schemas.microsoft.com/office/2006/metadata/properties"/>
    <ds:schemaRef ds:uri="6723d438-5cfd-419a-b5a5-7f350df90645"/>
    <ds:schemaRef ds:uri="http://schemas.microsoft.com/office/2006/documentManagement/types"/>
    <ds:schemaRef ds:uri="http://purl.org/dc/terms/"/>
    <ds:schemaRef ds:uri="http://schemas.openxmlformats.org/package/2006/metadata/core-properties"/>
    <ds:schemaRef ds:uri="be272f79-6e5c-4261-824a-43953da035ef"/>
    <ds:schemaRef ds:uri="http://schemas.microsoft.com/office/infopath/2007/PartnerControls"/>
  </ds:schemaRefs>
</ds:datastoreItem>
</file>

<file path=customXml/itemProps3.xml><?xml version="1.0" encoding="utf-8"?>
<ds:datastoreItem xmlns:ds="http://schemas.openxmlformats.org/officeDocument/2006/customXml" ds:itemID="{67551AFD-8AA1-4ED5-93F5-F65D2B8E7D8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TotalTime>
  <Words>4</Words>
  <Application>Microsoft Office PowerPoint</Application>
  <PresentationFormat>Widescreen</PresentationFormat>
  <Paragraphs>2</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SlateVTI</vt:lpstr>
      <vt:lpstr>Python Programming language</vt:lpstr>
      <vt:lpstr>Introduction</vt:lpstr>
      <vt:lpstr>Guido van Rossum</vt:lpstr>
      <vt:lpstr>The Problem</vt:lpstr>
      <vt:lpstr>Languages before Python</vt:lpstr>
      <vt:lpstr>The Solution</vt:lpstr>
      <vt:lpstr>Challenges faced by Python</vt:lpstr>
      <vt:lpstr>Languages Influenced by Python</vt:lpstr>
      <vt:lpstr>Python today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Jericko Chavez</dc:creator>
  <cp:lastModifiedBy>Jericko Chavez</cp:lastModifiedBy>
  <cp:revision>23</cp:revision>
  <dcterms:created xsi:type="dcterms:W3CDTF">2026-01-29T00:05:21Z</dcterms:created>
  <dcterms:modified xsi:type="dcterms:W3CDTF">2026-02-11T03:08:43Z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0x010100C0F72F4452F5FB4090AFC64FC9F8B9CA</vt:lpwstr>
  </property>
</Properties>
</file>